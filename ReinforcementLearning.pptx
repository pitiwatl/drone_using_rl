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0" r:id="rId3"/>
    <p:sldId id="258" r:id="rId4"/>
    <p:sldId id="270" r:id="rId5"/>
    <p:sldId id="269" r:id="rId6"/>
    <p:sldId id="271" r:id="rId7"/>
    <p:sldId id="257" r:id="rId8"/>
    <p:sldId id="261" r:id="rId9"/>
    <p:sldId id="262" r:id="rId10"/>
    <p:sldId id="272" r:id="rId11"/>
    <p:sldId id="259" r:id="rId12"/>
    <p:sldId id="284" r:id="rId13"/>
    <p:sldId id="283" r:id="rId14"/>
    <p:sldId id="273" r:id="rId15"/>
    <p:sldId id="274" r:id="rId16"/>
    <p:sldId id="275" r:id="rId17"/>
    <p:sldId id="276" r:id="rId18"/>
    <p:sldId id="279" r:id="rId19"/>
    <p:sldId id="277" r:id="rId20"/>
    <p:sldId id="280" r:id="rId21"/>
    <p:sldId id="281" r:id="rId22"/>
    <p:sldId id="282" r:id="rId23"/>
    <p:sldId id="266" r:id="rId24"/>
    <p:sldId id="264" r:id="rId25"/>
    <p:sldId id="268" r:id="rId26"/>
    <p:sldId id="26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75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1-08T02:57:25.05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471 280,'0'-3,"0"-1,0 1,1 0,0-1,-1 1,1 0,0 0,0 0,1-1,-1 1,1 0,0 1,-1-1,1 0,0 0,1 1,-1-1,0 1,1 0,-1-1,1 1,0 1,0-1,0 0,0 1,0-1,0 1,0 0,0 0,7-1,8-2,1 1,0 1,0 1,25 2,-25-1,1424 4,-1417-4,0 1,0 2,38 8,-55-9,0 0,1 1,-1 1,-1-1,1 1,0 1,-1-1,0 2,0-1,-1 1,1 0,9 11,-15-14,0-1,-1 0,1 0,-1 1,1-1,-1 1,0 0,0-1,0 1,-1 0,1-1,0 1,-1 0,0 0,0 0,0-1,0 6,-2-3,1 0,0 0,-1-1,0 1,0 0,0-1,-1 0,1 0,-6 6,-3 3,0-2,-1 1,0-2,0 0,-19 11,11-9,0-1,-1-1,0-1,-1-1,-31 7,11-6,-82 8,-127-13,-45 4,-368 10,448-19,174-2,1-2,-1-1,1-3,0-1,-60-23,85 27,1 0,0-1,1 0,-1-2,2 1,-1-2,1 0,1 0,0-1,-18-21,24 25,0 0,1-1,0 0,0 0,1 0,0-1,0 0,1 1,0-1,1 0,0-1,0 1,1 0,0 0,0-1,1 1,1-1,0 1,3-15,-2 17,0 0,0 0,1 0,0 0,1 1,-1-1,1 1,1 0,-1 0,1 1,7-8,-3 5,1 1,0 0,0 0,0 1,1 0,14-5,11-2,1 2,0 1,48-5,-78 14,73-10,103 0,82 13,-87 2,-126-2,-1 3,1 2,-1 3,92 29,-115-31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1-08T02:57:25.05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471 280,'0'-3,"0"-1,0 1,1 0,0-1,-1 1,1 0,0 0,0 0,1-1,-1 1,1 0,0 1,-1-1,1 0,0 0,1 1,-1-1,0 1,1 0,-1-1,1 1,0 1,0-1,0 0,0 1,0-1,0 1,0 0,0 0,7-1,8-2,1 1,0 1,0 1,25 2,-25-1,1424 4,-1417-4,0 1,0 2,38 8,-55-9,0 0,1 1,-1 1,-1-1,1 1,0 1,-1-1,0 2,0-1,-1 1,1 0,9 11,-15-14,0-1,-1 0,1 0,-1 1,1-1,-1 1,0 0,0-1,0 1,-1 0,1-1,0 1,-1 0,0 0,0 0,0-1,0 6,-2-3,1 0,0 0,-1-1,0 1,0 0,0-1,-1 0,1 0,-6 6,-3 3,0-2,-1 1,0-2,0 0,-19 11,11-9,0-1,-1-1,0-1,-1-1,-31 7,11-6,-82 8,-127-13,-45 4,-368 10,448-19,174-2,1-2,-1-1,1-3,0-1,-60-23,85 27,1 0,0-1,1 0,-1-2,2 1,-1-2,1 0,1 0,0-1,-18-21,24 25,0 0,1-1,0 0,0 0,1 0,0-1,0 0,1 1,0-1,1 0,0-1,0 1,1 0,0 0,0-1,1 1,1-1,0 1,3-15,-2 17,0 0,0 0,1 0,0 0,1 1,-1-1,1 1,1 0,-1 0,1 1,7-8,-3 5,1 1,0 0,0 0,0 1,1 0,14-5,11-2,1 2,0 1,48-5,-78 14,73-10,103 0,82 13,-87 2,-126-2,-1 3,1 2,-1 3,92 29,-115-31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02:57:32.95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3384 247 0,'-1'9'0,"-3"1"0,-3 0 0,-2-1 0,-3 1 0,-2-1 0,-3 1 0,-2-1 0,-3 0 0,-2 0 0,-2 0 0,-3-1 0,-3 1 0,-1-1 0,-3 0 0,-2 0 0,-2 0 0,-2 0 0,-3-1 0,-1 0 0,-1-1 0,-3 1 0,-1-1 0,-2 0 0,-2-1 0,-1 1 0,-1-2 0,-2 1 0,-1-1 0,-1 0 0,0 0 0,-2-1 0,-1 0 0,0-1 0,-1 0 0,0 0 0,-1-1 0,0 0 0,-1 0 0,1-1 0,0 0 0,-1-1 0,1 0 0,0 0 0,1-1 0,0 0 0,1 0 0,0-1 0,1 0 0,1-1 0,2 0 0,0 0 0,1-1 0,2 1 0,1-2 0,1 1 0,2-1 0,2 0 0,1-1 0,3 1 0,1-1 0,1 0 0,3-1 0,2 0 0,2 0 0,2 0 0,3 0 0,1-1 0,3 1 0,3-1 0,2 0 0,2 0 0,3 0 0,2-1 0,3 1 0,2-1 0,3 1 0,2-1 0,3 0 0,3 1 0,2-1 0,3 0 0,3 1 0,2-1 0,3 1 0,2-1 0,3 1 0,2 0 0,3 0 0,2 0 0,2 0 0,3 0 0,3 1 0,1-1 0,3 1 0,2 0 0,2 1 0,2-1 0,3 1 0,1 0 0,1 0 0,3 1 0,1 0 0,2 0 0,2 0 0,1 1 0,1 0 0,2 1 0,1-1 0,0 2 0,2-1 0,1 1 0,1 0 0,0 1 0,1 0 0,0 0 0,1 1 0,0 0 0,1 0 0,-1 1 0,0 0 0,1 1 0,-1 0 0,0 0 0,-1 1 0,0 0 0,-1 0 0,0 1 0,-1 0 0,-2 1 0,0-1 0,-1 2 0,-1-1 0,-2 1 0,-1 0 0,-1 1 0,-2 0 0,-2 0 0,-1 0 0,-3 1 0,-1 0 0,-1 0 0,-3 1 0,-2-1 0,-2 1 0,-2 0 0,-3 1 0,-1-1 0,-3 1 0,-3 0 0,-2 0 0,-2 0 0,-3 0 0,-2 0 0,-3 1 0,-2-1 0,-3 1 0,-2-1 0,-3 1 0,-3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2CBC2-33FB-469D-BB6A-AACED12F78C8}" type="datetimeFigureOut">
              <a:rPr lang="en-US" smtClean="0"/>
              <a:t>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95E63-DB1C-41D0-B3BB-C39E88824BB7}" type="slidenum">
              <a:rPr lang="en-US" smtClean="0"/>
              <a:t>‹#›</a:t>
            </a:fld>
            <a:endParaRPr lang="en-US"/>
          </a:p>
        </p:txBody>
      </p:sp>
    </p:spTree>
    <p:extLst>
      <p:ext uri="{BB962C8B-B14F-4D97-AF65-F5344CB8AC3E}">
        <p14:creationId xmlns:p14="http://schemas.microsoft.com/office/powerpoint/2010/main" val="125188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B95E63-DB1C-41D0-B3BB-C39E88824BB7}" type="slidenum">
              <a:rPr lang="en-US" smtClean="0"/>
              <a:t>19</a:t>
            </a:fld>
            <a:endParaRPr lang="en-US"/>
          </a:p>
        </p:txBody>
      </p:sp>
    </p:spTree>
    <p:extLst>
      <p:ext uri="{BB962C8B-B14F-4D97-AF65-F5344CB8AC3E}">
        <p14:creationId xmlns:p14="http://schemas.microsoft.com/office/powerpoint/2010/main" val="1084990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These variables define the outputs or actions that the optimization problem aims to determine in order to achieve the objective (e.g., maximize profit, minimize cost) while satisfying the given constraints (e.g., resource limits).</a:t>
            </a:r>
          </a:p>
          <a:p>
            <a:endParaRPr lang="en-US" dirty="0"/>
          </a:p>
        </p:txBody>
      </p:sp>
      <p:sp>
        <p:nvSpPr>
          <p:cNvPr id="4" name="Slide Number Placeholder 3"/>
          <p:cNvSpPr>
            <a:spLocks noGrp="1"/>
          </p:cNvSpPr>
          <p:nvPr>
            <p:ph type="sldNum" sz="quarter" idx="5"/>
          </p:nvPr>
        </p:nvSpPr>
        <p:spPr/>
        <p:txBody>
          <a:bodyPr/>
          <a:lstStyle/>
          <a:p>
            <a:fld id="{62B95E63-DB1C-41D0-B3BB-C39E88824BB7}" type="slidenum">
              <a:rPr lang="en-US" smtClean="0"/>
              <a:t>24</a:t>
            </a:fld>
            <a:endParaRPr lang="en-US"/>
          </a:p>
        </p:txBody>
      </p:sp>
    </p:spTree>
    <p:extLst>
      <p:ext uri="{BB962C8B-B14F-4D97-AF65-F5344CB8AC3E}">
        <p14:creationId xmlns:p14="http://schemas.microsoft.com/office/powerpoint/2010/main" val="1713188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D6AE3-5807-FF15-78C4-6862EF7975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2FC058-1113-EC99-693D-D5E09A05CB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E35E7A-7301-FDB3-22B3-A443DC46ECFF}"/>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5" name="Footer Placeholder 4">
            <a:extLst>
              <a:ext uri="{FF2B5EF4-FFF2-40B4-BE49-F238E27FC236}">
                <a16:creationId xmlns:a16="http://schemas.microsoft.com/office/drawing/2014/main" id="{CE2CE35E-8EF6-5650-D93A-4E03B40E3A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F793FD-5277-EE29-FF15-8B22D1FF9378}"/>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1160234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139D8-93D6-C5C5-509A-36449624AA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C8B3E2-B408-A942-FA33-BE9642CEF4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256859-1FAC-2482-097B-A96CA0EE9CF9}"/>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5" name="Footer Placeholder 4">
            <a:extLst>
              <a:ext uri="{FF2B5EF4-FFF2-40B4-BE49-F238E27FC236}">
                <a16:creationId xmlns:a16="http://schemas.microsoft.com/office/drawing/2014/main" id="{79EB35FF-3FFC-5A5F-4FD1-0041779663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0CCD09-3DDD-A499-9676-B40506876EEA}"/>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1053804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ED620-5282-C316-8F95-71561400E7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11E588-0558-8DEE-5CB0-016CA5D379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6F06DC-CBE5-502F-8473-716BF71CDB20}"/>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5" name="Footer Placeholder 4">
            <a:extLst>
              <a:ext uri="{FF2B5EF4-FFF2-40B4-BE49-F238E27FC236}">
                <a16:creationId xmlns:a16="http://schemas.microsoft.com/office/drawing/2014/main" id="{5039DC92-3304-206B-8EFB-CFA13CDC0E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680CBE-EF0D-F46F-98B5-25E863E5BAA5}"/>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4027271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58093-B6CB-6E37-5317-6093ED7496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1244C8-FF5D-4352-73F1-15C9A77434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2D9036-9887-BB63-7356-A020A91790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D4150A-D4A3-9370-A182-F8401FCCCE3F}"/>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6" name="Footer Placeholder 5">
            <a:extLst>
              <a:ext uri="{FF2B5EF4-FFF2-40B4-BE49-F238E27FC236}">
                <a16:creationId xmlns:a16="http://schemas.microsoft.com/office/drawing/2014/main" id="{3A30E5F5-0684-9DD6-2688-574A32E49D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77D36D-A1F9-7A81-A525-A532847BBFDB}"/>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1665479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D8D65-2A2A-5F0F-9709-8FA0F5A1A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3540A7-0DC5-B2F7-ACBD-22A2B1B8A1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543E02-2BD5-620B-8C55-DEEAE2F96F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48F27E-F93F-AF27-E330-92C1EC5424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ACE18-A732-B84E-ED68-118B0E93D9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0E9437-E64D-2361-E698-478D3968433F}"/>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8" name="Footer Placeholder 7">
            <a:extLst>
              <a:ext uri="{FF2B5EF4-FFF2-40B4-BE49-F238E27FC236}">
                <a16:creationId xmlns:a16="http://schemas.microsoft.com/office/drawing/2014/main" id="{57B8625A-5DB8-BAA3-BE60-2DB49F3718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C60D4D-B391-27F3-4EFC-52FECE17E633}"/>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2886522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ACFFD-3980-93D9-9DA3-96D39E3B4B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B923522-C563-2ACD-D7D2-4BF6235F563F}"/>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4" name="Footer Placeholder 3">
            <a:extLst>
              <a:ext uri="{FF2B5EF4-FFF2-40B4-BE49-F238E27FC236}">
                <a16:creationId xmlns:a16="http://schemas.microsoft.com/office/drawing/2014/main" id="{DCAFC440-5B7E-E04B-2310-14E0C6A0B1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F13609-AA01-481A-6BB0-9F392AD7330A}"/>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1296891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28332E-3B6E-E049-3A80-DF9B0348C76E}"/>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3" name="Footer Placeholder 2">
            <a:extLst>
              <a:ext uri="{FF2B5EF4-FFF2-40B4-BE49-F238E27FC236}">
                <a16:creationId xmlns:a16="http://schemas.microsoft.com/office/drawing/2014/main" id="{88BA37C2-FBEF-88B0-F4CF-4109D6FFE8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139EF9-6E94-7565-4FD6-33EC92C27573}"/>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2982997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20B3B-22D3-83BC-9EB6-05E16A91B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681B85-5080-4580-0F1A-594220589B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FD1F4C-10B2-BF90-360F-0CFF33E487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D16760-D67E-A34F-1448-E33FE7DE94D3}"/>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6" name="Footer Placeholder 5">
            <a:extLst>
              <a:ext uri="{FF2B5EF4-FFF2-40B4-BE49-F238E27FC236}">
                <a16:creationId xmlns:a16="http://schemas.microsoft.com/office/drawing/2014/main" id="{D64E0B49-DDC0-4CE1-457A-70B6D78429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4E1B20-F4FA-B648-BC0C-E529D225A2E6}"/>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1397851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507BB-5A91-92D0-FD56-6DC5498273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EFBBA9-1487-5147-4B5C-EA99AE108F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2841DA-9E16-3270-1F24-7F0410B2ED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8C7B3D-CE5D-897D-EEC9-F17622F5CE08}"/>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6" name="Footer Placeholder 5">
            <a:extLst>
              <a:ext uri="{FF2B5EF4-FFF2-40B4-BE49-F238E27FC236}">
                <a16:creationId xmlns:a16="http://schemas.microsoft.com/office/drawing/2014/main" id="{9A232059-2214-2F11-1844-C0C3A6B7D4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1C7F8-7AB4-35AB-E3BD-9305A59A99FB}"/>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1907955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4CDF4-6A44-F357-F11B-0941845E6A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6918C9-5EE0-7B71-AF0D-5793A4AA5D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FC7ED4-9C2D-6C23-5F8E-A6BE5ACF3CEA}"/>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5" name="Footer Placeholder 4">
            <a:extLst>
              <a:ext uri="{FF2B5EF4-FFF2-40B4-BE49-F238E27FC236}">
                <a16:creationId xmlns:a16="http://schemas.microsoft.com/office/drawing/2014/main" id="{706C7DBB-206C-35EC-2D85-577DABA3F2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92156-09B3-79F1-3D06-2A8447CDB58E}"/>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3200661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A1B504-4E16-C808-B972-2CC19BA96C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FC89C4-7339-41D7-2784-B8C9DD5B9E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246721-8126-15A9-A4A6-1148683B0624}"/>
              </a:ext>
            </a:extLst>
          </p:cNvPr>
          <p:cNvSpPr>
            <a:spLocks noGrp="1"/>
          </p:cNvSpPr>
          <p:nvPr>
            <p:ph type="dt" sz="half" idx="10"/>
          </p:nvPr>
        </p:nvSpPr>
        <p:spPr/>
        <p:txBody>
          <a:bodyPr/>
          <a:lstStyle/>
          <a:p>
            <a:fld id="{D7847FCC-308C-43CE-AD35-E91CF9906ADB}" type="datetimeFigureOut">
              <a:rPr lang="en-US" smtClean="0"/>
              <a:t>1/18/2025</a:t>
            </a:fld>
            <a:endParaRPr lang="en-US"/>
          </a:p>
        </p:txBody>
      </p:sp>
      <p:sp>
        <p:nvSpPr>
          <p:cNvPr id="5" name="Footer Placeholder 4">
            <a:extLst>
              <a:ext uri="{FF2B5EF4-FFF2-40B4-BE49-F238E27FC236}">
                <a16:creationId xmlns:a16="http://schemas.microsoft.com/office/drawing/2014/main" id="{A406FC75-AD37-D650-6EF7-0E3397D440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0881B6-3560-DFD2-02CD-0D24ED544CFF}"/>
              </a:ext>
            </a:extLst>
          </p:cNvPr>
          <p:cNvSpPr>
            <a:spLocks noGrp="1"/>
          </p:cNvSpPr>
          <p:nvPr>
            <p:ph type="sldNum" sz="quarter" idx="12"/>
          </p:nvPr>
        </p:nvSpPr>
        <p:spPr/>
        <p:txBody>
          <a:bodyPr/>
          <a:lstStyle/>
          <a:p>
            <a:fld id="{359C8769-658C-4490-AAE6-900A0D649DD3}" type="slidenum">
              <a:rPr lang="en-US" smtClean="0"/>
              <a:t>‹#›</a:t>
            </a:fld>
            <a:endParaRPr lang="en-US"/>
          </a:p>
        </p:txBody>
      </p:sp>
    </p:spTree>
    <p:extLst>
      <p:ext uri="{BB962C8B-B14F-4D97-AF65-F5344CB8AC3E}">
        <p14:creationId xmlns:p14="http://schemas.microsoft.com/office/powerpoint/2010/main" val="4093351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DD6E6E-04D8-FA39-40D4-C7E9F101E1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627FE5-F994-F2D1-28E8-219EF21F0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FE7A1A-6FFD-66F0-4645-324308E512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847FCC-308C-43CE-AD35-E91CF9906ADB}" type="datetimeFigureOut">
              <a:rPr lang="en-US" smtClean="0"/>
              <a:t>1/18/2025</a:t>
            </a:fld>
            <a:endParaRPr lang="en-US"/>
          </a:p>
        </p:txBody>
      </p:sp>
      <p:sp>
        <p:nvSpPr>
          <p:cNvPr id="5" name="Footer Placeholder 4">
            <a:extLst>
              <a:ext uri="{FF2B5EF4-FFF2-40B4-BE49-F238E27FC236}">
                <a16:creationId xmlns:a16="http://schemas.microsoft.com/office/drawing/2014/main" id="{E5E7FAC8-3A51-797D-3706-C51CB0604F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06A303-7A46-AEC7-3783-60639AA981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9C8769-658C-4490-AAE6-900A0D649DD3}" type="slidenum">
              <a:rPr lang="en-US" smtClean="0"/>
              <a:t>‹#›</a:t>
            </a:fld>
            <a:endParaRPr lang="en-US"/>
          </a:p>
        </p:txBody>
      </p:sp>
    </p:spTree>
    <p:extLst>
      <p:ext uri="{BB962C8B-B14F-4D97-AF65-F5344CB8AC3E}">
        <p14:creationId xmlns:p14="http://schemas.microsoft.com/office/powerpoint/2010/main" val="3517028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hyperlink" Target="https://colab.research.google.com/drive/1rUxAE9xXN2MOT7UlxOFqfubVjlnxxjvW#scrollTo=4M-ddB6ZGeSs" TargetMode="External"/><Relationship Id="rId5" Type="http://schemas.openxmlformats.org/officeDocument/2006/relationships/hyperlink" Target="https://medium.com/udemy-engineering/building-a-multi-armed-bandit-system-from-the-ground-up-a-recommendations-and-ranking-case-study-b598f1f880e1" TargetMode="External"/><Relationship Id="rId4" Type="http://schemas.openxmlformats.org/officeDocument/2006/relationships/hyperlink" Target="https://towardsdatascience.com/reinforcement-learning-multi-arm-bandit-implementation-5399ef67b24b"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s://colab.research.google.com/drive/1PhiaHf23itqkrytPqNUCH-SRd8s_c_mF#scrollTo=Cmx8aMUG0BK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0.png"/><Relationship Id="rId7"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medium.com/codex/optimization-and-linear-programming-f0b1faab1e5a"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D6FAEF9-DE57-B9EE-D494-C0EF26D831B1}"/>
              </a:ext>
            </a:extLst>
          </p:cNvPr>
          <p:cNvSpPr/>
          <p:nvPr/>
        </p:nvSpPr>
        <p:spPr>
          <a:xfrm>
            <a:off x="0" y="772158"/>
            <a:ext cx="12192001" cy="3715011"/>
          </a:xfrm>
          <a:prstGeom prst="rect">
            <a:avLst/>
          </a:prstGeom>
          <a:solidFill>
            <a:schemeClr val="accent3">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1013B3E-D98C-5CDB-5782-C0B679AB91BC}"/>
              </a:ext>
            </a:extLst>
          </p:cNvPr>
          <p:cNvSpPr txBox="1"/>
          <p:nvPr/>
        </p:nvSpPr>
        <p:spPr>
          <a:xfrm>
            <a:off x="314025" y="1269040"/>
            <a:ext cx="11209988" cy="2492990"/>
          </a:xfrm>
          <a:prstGeom prst="rect">
            <a:avLst/>
          </a:prstGeom>
          <a:noFill/>
        </p:spPr>
        <p:txBody>
          <a:bodyPr wrap="square" rtlCol="0">
            <a:spAutoFit/>
          </a:bodyPr>
          <a:lstStyle/>
          <a:p>
            <a:pPr algn="ctr"/>
            <a:r>
              <a:rPr lang="en-GB" sz="6600" b="1" dirty="0">
                <a:solidFill>
                  <a:srgbClr val="FFC000"/>
                </a:solidFill>
                <a:effectLst>
                  <a:outerShdw blurRad="38100" dist="38100" dir="2700000" algn="tl">
                    <a:srgbClr val="000000">
                      <a:alpha val="43137"/>
                    </a:srgbClr>
                  </a:outerShdw>
                </a:effectLst>
              </a:rPr>
              <a:t>R</a:t>
            </a:r>
            <a:r>
              <a:rPr lang="en-GB" sz="5400" b="1" dirty="0">
                <a:solidFill>
                  <a:srgbClr val="FFC000"/>
                </a:solidFill>
                <a:effectLst>
                  <a:outerShdw blurRad="38100" dist="38100" dir="2700000" algn="tl">
                    <a:srgbClr val="000000">
                      <a:alpha val="43137"/>
                    </a:srgbClr>
                  </a:outerShdw>
                </a:effectLst>
              </a:rPr>
              <a:t>einforcement </a:t>
            </a:r>
            <a:r>
              <a:rPr lang="en-GB" sz="6600" b="1" dirty="0">
                <a:solidFill>
                  <a:srgbClr val="FFC000"/>
                </a:solidFill>
                <a:effectLst>
                  <a:outerShdw blurRad="38100" dist="38100" dir="2700000" algn="tl">
                    <a:srgbClr val="000000">
                      <a:alpha val="43137"/>
                    </a:srgbClr>
                  </a:outerShdw>
                </a:effectLst>
              </a:rPr>
              <a:t>L</a:t>
            </a:r>
            <a:r>
              <a:rPr lang="en-GB" sz="5400" b="1" dirty="0">
                <a:solidFill>
                  <a:srgbClr val="FFC000"/>
                </a:solidFill>
                <a:effectLst>
                  <a:outerShdw blurRad="38100" dist="38100" dir="2700000" algn="tl">
                    <a:srgbClr val="000000">
                      <a:alpha val="43137"/>
                    </a:srgbClr>
                  </a:outerShdw>
                </a:effectLst>
              </a:rPr>
              <a:t>earning</a:t>
            </a:r>
          </a:p>
          <a:p>
            <a:pPr algn="ctr"/>
            <a:r>
              <a:rPr lang="en-GB" sz="3600" b="1" dirty="0">
                <a:solidFill>
                  <a:srgbClr val="FFC000"/>
                </a:solidFill>
                <a:effectLst>
                  <a:outerShdw blurRad="38100" dist="38100" dir="2700000" algn="tl">
                    <a:srgbClr val="000000">
                      <a:alpha val="43137"/>
                    </a:srgbClr>
                  </a:outerShdw>
                </a:effectLst>
              </a:rPr>
              <a:t>AND</a:t>
            </a:r>
          </a:p>
          <a:p>
            <a:pPr algn="ctr"/>
            <a:r>
              <a:rPr lang="en-GB" sz="5400" b="1" dirty="0">
                <a:solidFill>
                  <a:srgbClr val="FFC000"/>
                </a:solidFill>
                <a:effectLst>
                  <a:outerShdw blurRad="38100" dist="38100" dir="2700000" algn="tl">
                    <a:srgbClr val="000000">
                      <a:alpha val="43137"/>
                    </a:srgbClr>
                  </a:outerShdw>
                </a:effectLst>
              </a:rPr>
              <a:t>Linear Programming Optimization</a:t>
            </a:r>
          </a:p>
        </p:txBody>
      </p:sp>
    </p:spTree>
    <p:extLst>
      <p:ext uri="{BB962C8B-B14F-4D97-AF65-F5344CB8AC3E}">
        <p14:creationId xmlns:p14="http://schemas.microsoft.com/office/powerpoint/2010/main" val="3406422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C6F264-5CE2-E352-D7DD-69F0CE4BF516}"/>
              </a:ext>
            </a:extLst>
          </p:cNvPr>
          <p:cNvSpPr txBox="1"/>
          <p:nvPr/>
        </p:nvSpPr>
        <p:spPr>
          <a:xfrm>
            <a:off x="534454" y="894653"/>
            <a:ext cx="1582677" cy="584775"/>
          </a:xfrm>
          <a:prstGeom prst="rect">
            <a:avLst/>
          </a:prstGeom>
          <a:noFill/>
        </p:spPr>
        <p:txBody>
          <a:bodyPr wrap="none" rtlCol="0">
            <a:spAutoFit/>
          </a:bodyPr>
          <a:lstStyle/>
          <a:p>
            <a:r>
              <a:rPr lang="en-GB" sz="3200" b="1" dirty="0">
                <a:effectLst>
                  <a:outerShdw blurRad="38100" dist="38100" dir="2700000" algn="tl">
                    <a:srgbClr val="000000">
                      <a:alpha val="43137"/>
                    </a:srgbClr>
                  </a:outerShdw>
                </a:effectLst>
              </a:rPr>
              <a:t>Agenda</a:t>
            </a:r>
            <a:endParaRPr lang="en-US" sz="3200" b="1" dirty="0">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D65FF92C-9DA9-E219-DAE9-532DF0922DFC}"/>
              </a:ext>
            </a:extLst>
          </p:cNvPr>
          <p:cNvSpPr txBox="1"/>
          <p:nvPr/>
        </p:nvSpPr>
        <p:spPr>
          <a:xfrm>
            <a:off x="1517364" y="1662004"/>
            <a:ext cx="2553776" cy="523220"/>
          </a:xfrm>
          <a:prstGeom prst="rect">
            <a:avLst/>
          </a:prstGeom>
          <a:noFill/>
        </p:spPr>
        <p:txBody>
          <a:bodyPr wrap="none" rtlCol="0">
            <a:spAutoFit/>
          </a:bodyPr>
          <a:lstStyle/>
          <a:p>
            <a:pPr marL="457200" indent="-457200">
              <a:buFont typeface="Arial" panose="020B0604020202020204" pitchFamily="34" charset="0"/>
              <a:buChar char="•"/>
            </a:pPr>
            <a:r>
              <a:rPr lang="en-GB" sz="2800" dirty="0"/>
              <a:t>Introduction</a:t>
            </a:r>
            <a:endParaRPr lang="en-US" sz="2800" dirty="0"/>
          </a:p>
        </p:txBody>
      </p:sp>
      <p:sp>
        <p:nvSpPr>
          <p:cNvPr id="6" name="TextBox 5">
            <a:extLst>
              <a:ext uri="{FF2B5EF4-FFF2-40B4-BE49-F238E27FC236}">
                <a16:creationId xmlns:a16="http://schemas.microsoft.com/office/drawing/2014/main" id="{708C8F0F-3EE6-4FF8-95ED-1354419E63F1}"/>
              </a:ext>
            </a:extLst>
          </p:cNvPr>
          <p:cNvSpPr txBox="1"/>
          <p:nvPr/>
        </p:nvSpPr>
        <p:spPr>
          <a:xfrm>
            <a:off x="1517363" y="2117681"/>
            <a:ext cx="8613375" cy="523220"/>
          </a:xfrm>
          <a:prstGeom prst="rect">
            <a:avLst/>
          </a:prstGeom>
          <a:noFill/>
        </p:spPr>
        <p:txBody>
          <a:bodyPr wrap="square" rtlCol="0">
            <a:spAutoFit/>
          </a:bodyPr>
          <a:lstStyle/>
          <a:p>
            <a:pPr marL="457200" indent="-457200">
              <a:buFont typeface="Arial" panose="020B0604020202020204" pitchFamily="34" charset="0"/>
              <a:buChar char="•"/>
            </a:pPr>
            <a:r>
              <a:rPr lang="en-GB" sz="2800" dirty="0"/>
              <a:t>Common Terms used in Reinforcement Learning</a:t>
            </a:r>
            <a:endParaRPr lang="en-US" sz="2800" dirty="0"/>
          </a:p>
        </p:txBody>
      </p:sp>
      <p:sp>
        <p:nvSpPr>
          <p:cNvPr id="7" name="TextBox 6">
            <a:extLst>
              <a:ext uri="{FF2B5EF4-FFF2-40B4-BE49-F238E27FC236}">
                <a16:creationId xmlns:a16="http://schemas.microsoft.com/office/drawing/2014/main" id="{F018FACE-6D80-2696-2744-FCC7DC9E3ABB}"/>
              </a:ext>
            </a:extLst>
          </p:cNvPr>
          <p:cNvSpPr txBox="1"/>
          <p:nvPr/>
        </p:nvSpPr>
        <p:spPr>
          <a:xfrm>
            <a:off x="1517363" y="2591252"/>
            <a:ext cx="8613375" cy="523220"/>
          </a:xfrm>
          <a:prstGeom prst="rect">
            <a:avLst/>
          </a:prstGeom>
          <a:noFill/>
        </p:spPr>
        <p:txBody>
          <a:bodyPr wrap="square" rtlCol="0">
            <a:spAutoFit/>
          </a:bodyPr>
          <a:lstStyle/>
          <a:p>
            <a:pPr marL="457200" indent="-457200">
              <a:buFont typeface="Arial" panose="020B0604020202020204" pitchFamily="34" charset="0"/>
              <a:buChar char="•"/>
            </a:pPr>
            <a:r>
              <a:rPr lang="en-GB" sz="2800" dirty="0"/>
              <a:t>Multi-Armed Bandits</a:t>
            </a:r>
            <a:endParaRPr lang="en-US" sz="2800" dirty="0"/>
          </a:p>
        </p:txBody>
      </p:sp>
      <p:sp>
        <p:nvSpPr>
          <p:cNvPr id="8" name="TextBox 7">
            <a:extLst>
              <a:ext uri="{FF2B5EF4-FFF2-40B4-BE49-F238E27FC236}">
                <a16:creationId xmlns:a16="http://schemas.microsoft.com/office/drawing/2014/main" id="{0CA2A52C-32A8-E00F-8916-43BA2C9D94D4}"/>
              </a:ext>
            </a:extLst>
          </p:cNvPr>
          <p:cNvSpPr txBox="1"/>
          <p:nvPr/>
        </p:nvSpPr>
        <p:spPr>
          <a:xfrm>
            <a:off x="1517363" y="3086602"/>
            <a:ext cx="8613375" cy="523220"/>
          </a:xfrm>
          <a:prstGeom prst="rect">
            <a:avLst/>
          </a:prstGeom>
          <a:noFill/>
        </p:spPr>
        <p:txBody>
          <a:bodyPr wrap="square" rtlCol="0">
            <a:spAutoFit/>
          </a:bodyPr>
          <a:lstStyle/>
          <a:p>
            <a:pPr marL="457200" indent="-457200">
              <a:buFont typeface="Arial" panose="020B0604020202020204" pitchFamily="34" charset="0"/>
              <a:buChar char="•"/>
            </a:pPr>
            <a:r>
              <a:rPr lang="en-GB" sz="2800" dirty="0"/>
              <a:t>Model Free Learning</a:t>
            </a:r>
            <a:endParaRPr lang="en-US" sz="2800" dirty="0"/>
          </a:p>
        </p:txBody>
      </p:sp>
      <p:sp>
        <p:nvSpPr>
          <p:cNvPr id="9" name="TextBox 8">
            <a:extLst>
              <a:ext uri="{FF2B5EF4-FFF2-40B4-BE49-F238E27FC236}">
                <a16:creationId xmlns:a16="http://schemas.microsoft.com/office/drawing/2014/main" id="{D6B0A3EC-D437-6427-9159-BA5A1DA2F6A5}"/>
              </a:ext>
            </a:extLst>
          </p:cNvPr>
          <p:cNvSpPr txBox="1"/>
          <p:nvPr/>
        </p:nvSpPr>
        <p:spPr>
          <a:xfrm>
            <a:off x="1517362" y="3585835"/>
            <a:ext cx="8613375" cy="523220"/>
          </a:xfrm>
          <a:prstGeom prst="rect">
            <a:avLst/>
          </a:prstGeom>
          <a:noFill/>
        </p:spPr>
        <p:txBody>
          <a:bodyPr wrap="square" rtlCol="0">
            <a:spAutoFit/>
          </a:bodyPr>
          <a:lstStyle/>
          <a:p>
            <a:pPr marL="457200" indent="-457200">
              <a:buFont typeface="Arial" panose="020B0604020202020204" pitchFamily="34" charset="0"/>
              <a:buChar char="•"/>
            </a:pPr>
            <a:r>
              <a:rPr lang="en-GB" sz="2800" dirty="0"/>
              <a:t>Advanced Model Free Learning</a:t>
            </a:r>
            <a:endParaRPr lang="en-US" sz="2800" dirty="0"/>
          </a:p>
        </p:txBody>
      </p:sp>
      <p:sp>
        <p:nvSpPr>
          <p:cNvPr id="10" name="TextBox 9">
            <a:extLst>
              <a:ext uri="{FF2B5EF4-FFF2-40B4-BE49-F238E27FC236}">
                <a16:creationId xmlns:a16="http://schemas.microsoft.com/office/drawing/2014/main" id="{16C187C2-D1B0-7247-B561-F6AD92E42FFB}"/>
              </a:ext>
            </a:extLst>
          </p:cNvPr>
          <p:cNvSpPr txBox="1"/>
          <p:nvPr/>
        </p:nvSpPr>
        <p:spPr>
          <a:xfrm>
            <a:off x="1517362" y="4085068"/>
            <a:ext cx="9449119" cy="523220"/>
          </a:xfrm>
          <a:prstGeom prst="rect">
            <a:avLst/>
          </a:prstGeom>
          <a:noFill/>
        </p:spPr>
        <p:txBody>
          <a:bodyPr wrap="square" rtlCol="0">
            <a:spAutoFit/>
          </a:bodyPr>
          <a:lstStyle/>
          <a:p>
            <a:pPr marL="457200" indent="-457200">
              <a:buFont typeface="Arial" panose="020B0604020202020204" pitchFamily="34" charset="0"/>
              <a:buChar char="•"/>
            </a:pPr>
            <a:r>
              <a:rPr lang="en-GB" sz="2800" b="1" dirty="0">
                <a:effectLst>
                  <a:outerShdw blurRad="38100" dist="38100" dir="2700000" algn="tl">
                    <a:srgbClr val="000000">
                      <a:alpha val="43137"/>
                    </a:srgbClr>
                  </a:outerShdw>
                </a:effectLst>
              </a:rPr>
              <a:t>Basic Optimization</a:t>
            </a:r>
            <a:r>
              <a:rPr lang="en-GB" sz="2800" dirty="0"/>
              <a:t>: Linear Programming in Data Science</a:t>
            </a:r>
            <a:endParaRPr lang="en-US" sz="2800" dirty="0"/>
          </a:p>
        </p:txBody>
      </p:sp>
    </p:spTree>
    <p:extLst>
      <p:ext uri="{BB962C8B-B14F-4D97-AF65-F5344CB8AC3E}">
        <p14:creationId xmlns:p14="http://schemas.microsoft.com/office/powerpoint/2010/main" val="3597302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C8C491-5C50-B268-BD87-36FF39B2B138}"/>
              </a:ext>
            </a:extLst>
          </p:cNvPr>
          <p:cNvPicPr>
            <a:picLocks noChangeAspect="1"/>
          </p:cNvPicPr>
          <p:nvPr/>
        </p:nvPicPr>
        <p:blipFill>
          <a:blip r:embed="rId2"/>
          <a:stretch>
            <a:fillRect/>
          </a:stretch>
        </p:blipFill>
        <p:spPr>
          <a:xfrm>
            <a:off x="1656735" y="1406885"/>
            <a:ext cx="9173497" cy="4044230"/>
          </a:xfrm>
          <a:prstGeom prst="rect">
            <a:avLst/>
          </a:prstGeom>
        </p:spPr>
      </p:pic>
      <p:sp>
        <p:nvSpPr>
          <p:cNvPr id="2" name="TextBox 1">
            <a:extLst>
              <a:ext uri="{FF2B5EF4-FFF2-40B4-BE49-F238E27FC236}">
                <a16:creationId xmlns:a16="http://schemas.microsoft.com/office/drawing/2014/main" id="{80A82B6D-A37B-C882-2658-985018269385}"/>
              </a:ext>
            </a:extLst>
          </p:cNvPr>
          <p:cNvSpPr txBox="1"/>
          <p:nvPr/>
        </p:nvSpPr>
        <p:spPr>
          <a:xfrm>
            <a:off x="619433" y="304800"/>
            <a:ext cx="3207609" cy="646331"/>
          </a:xfrm>
          <a:prstGeom prst="rect">
            <a:avLst/>
          </a:prstGeom>
          <a:noFill/>
        </p:spPr>
        <p:txBody>
          <a:bodyPr wrap="none" rtlCol="0">
            <a:spAutoFit/>
          </a:bodyPr>
          <a:lstStyle/>
          <a:p>
            <a:r>
              <a:rPr lang="en-GB" sz="3600" b="1" dirty="0"/>
              <a:t>RL Full Course</a:t>
            </a:r>
            <a:endParaRPr lang="en-US" sz="3600" b="1" dirty="0"/>
          </a:p>
        </p:txBody>
      </p:sp>
    </p:spTree>
    <p:extLst>
      <p:ext uri="{BB962C8B-B14F-4D97-AF65-F5344CB8AC3E}">
        <p14:creationId xmlns:p14="http://schemas.microsoft.com/office/powerpoint/2010/main" val="123452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diagram of learning process&#10;&#10;Description automatically generated">
            <a:extLst>
              <a:ext uri="{FF2B5EF4-FFF2-40B4-BE49-F238E27FC236}">
                <a16:creationId xmlns:a16="http://schemas.microsoft.com/office/drawing/2014/main" id="{CECAF6F2-B772-706B-3EAF-4280D50988B0}"/>
              </a:ext>
            </a:extLst>
          </p:cNvPr>
          <p:cNvPicPr>
            <a:picLocks noChangeAspect="1"/>
          </p:cNvPicPr>
          <p:nvPr/>
        </p:nvPicPr>
        <p:blipFill>
          <a:blip r:embed="rId2"/>
          <a:stretch>
            <a:fillRect/>
          </a:stretch>
        </p:blipFill>
        <p:spPr>
          <a:xfrm>
            <a:off x="764185" y="1261233"/>
            <a:ext cx="10663630" cy="4878609"/>
          </a:xfrm>
          <a:prstGeom prst="rect">
            <a:avLst/>
          </a:prstGeom>
        </p:spPr>
      </p:pic>
      <p:sp>
        <p:nvSpPr>
          <p:cNvPr id="6" name="TextBox 5">
            <a:extLst>
              <a:ext uri="{FF2B5EF4-FFF2-40B4-BE49-F238E27FC236}">
                <a16:creationId xmlns:a16="http://schemas.microsoft.com/office/drawing/2014/main" id="{731D10A4-6B10-6632-C67F-30589590D140}"/>
              </a:ext>
            </a:extLst>
          </p:cNvPr>
          <p:cNvSpPr txBox="1"/>
          <p:nvPr/>
        </p:nvSpPr>
        <p:spPr>
          <a:xfrm>
            <a:off x="599768" y="383024"/>
            <a:ext cx="6125497" cy="584775"/>
          </a:xfrm>
          <a:prstGeom prst="rect">
            <a:avLst/>
          </a:prstGeom>
          <a:noFill/>
        </p:spPr>
        <p:txBody>
          <a:bodyPr wrap="square" rtlCol="0">
            <a:spAutoFit/>
          </a:bodyPr>
          <a:lstStyle/>
          <a:p>
            <a:r>
              <a:rPr lang="en-GB" sz="3200" b="1" dirty="0">
                <a:effectLst>
                  <a:outerShdw blurRad="38100" dist="38100" dir="2700000" algn="tl">
                    <a:srgbClr val="000000">
                      <a:alpha val="43137"/>
                    </a:srgbClr>
                  </a:outerShdw>
                </a:effectLst>
              </a:rPr>
              <a:t>World of Machine Learning</a:t>
            </a:r>
            <a:endParaRPr lang="en-US" sz="3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6408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75AED9B-AB60-78B8-6BD4-3C5E1BA6F665}"/>
              </a:ext>
            </a:extLst>
          </p:cNvPr>
          <p:cNvSpPr txBox="1"/>
          <p:nvPr/>
        </p:nvSpPr>
        <p:spPr>
          <a:xfrm>
            <a:off x="619433" y="304800"/>
            <a:ext cx="4203010" cy="646331"/>
          </a:xfrm>
          <a:prstGeom prst="rect">
            <a:avLst/>
          </a:prstGeom>
          <a:noFill/>
        </p:spPr>
        <p:txBody>
          <a:bodyPr wrap="none" rtlCol="0">
            <a:spAutoFit/>
          </a:bodyPr>
          <a:lstStyle/>
          <a:p>
            <a:r>
              <a:rPr lang="en-GB" sz="3600" b="1" dirty="0"/>
              <a:t>RL Common Words</a:t>
            </a:r>
            <a:endParaRPr lang="en-US" sz="3600" b="1" dirty="0"/>
          </a:p>
        </p:txBody>
      </p:sp>
      <p:pic>
        <p:nvPicPr>
          <p:cNvPr id="7" name="Picture 6">
            <a:extLst>
              <a:ext uri="{FF2B5EF4-FFF2-40B4-BE49-F238E27FC236}">
                <a16:creationId xmlns:a16="http://schemas.microsoft.com/office/drawing/2014/main" id="{CC9C6B8F-6301-A81A-3AD1-03BC58BF4FB1}"/>
              </a:ext>
            </a:extLst>
          </p:cNvPr>
          <p:cNvPicPr>
            <a:picLocks noChangeAspect="1"/>
          </p:cNvPicPr>
          <p:nvPr/>
        </p:nvPicPr>
        <p:blipFill>
          <a:blip r:embed="rId2"/>
          <a:srcRect l="3146"/>
          <a:stretch/>
        </p:blipFill>
        <p:spPr>
          <a:xfrm>
            <a:off x="7335522" y="1245832"/>
            <a:ext cx="4682307" cy="4229682"/>
          </a:xfrm>
          <a:prstGeom prst="rect">
            <a:avLst/>
          </a:prstGeom>
        </p:spPr>
      </p:pic>
      <p:sp>
        <p:nvSpPr>
          <p:cNvPr id="9" name="TextBox 8">
            <a:extLst>
              <a:ext uri="{FF2B5EF4-FFF2-40B4-BE49-F238E27FC236}">
                <a16:creationId xmlns:a16="http://schemas.microsoft.com/office/drawing/2014/main" id="{1C3EEDC0-E9D6-6B86-937F-637DA8493008}"/>
              </a:ext>
            </a:extLst>
          </p:cNvPr>
          <p:cNvSpPr txBox="1"/>
          <p:nvPr/>
        </p:nvSpPr>
        <p:spPr>
          <a:xfrm>
            <a:off x="462117" y="1314923"/>
            <a:ext cx="6351638" cy="3693319"/>
          </a:xfrm>
          <a:prstGeom prst="rect">
            <a:avLst/>
          </a:prstGeom>
          <a:noFill/>
        </p:spPr>
        <p:txBody>
          <a:bodyPr wrap="square">
            <a:spAutoFit/>
          </a:bodyPr>
          <a:lstStyle/>
          <a:p>
            <a:r>
              <a:rPr lang="en-GB" b="1" dirty="0"/>
              <a:t>Environment: </a:t>
            </a:r>
            <a:r>
              <a:rPr lang="en-GB" dirty="0"/>
              <a:t>The external system with which the agent interacts. It represents the problem space (e.g., a maze, a game, or a robotic environment). The environment responds to the agent's actions and provides the next state and a reward.</a:t>
            </a:r>
          </a:p>
          <a:p>
            <a:endParaRPr lang="en-GB" dirty="0"/>
          </a:p>
          <a:p>
            <a:r>
              <a:rPr lang="en-GB" b="1" dirty="0"/>
              <a:t>Agent: </a:t>
            </a:r>
            <a:r>
              <a:rPr lang="en-GB" dirty="0"/>
              <a:t>The decision-maker or learner in the RL setup. </a:t>
            </a:r>
          </a:p>
          <a:p>
            <a:r>
              <a:rPr lang="en-GB" dirty="0"/>
              <a:t>The agent selects actions based on its policy and aims to maximize cumulative rewards.</a:t>
            </a:r>
          </a:p>
          <a:p>
            <a:endParaRPr lang="en-GB" dirty="0"/>
          </a:p>
          <a:p>
            <a:r>
              <a:rPr lang="en-GB" b="1" dirty="0"/>
              <a:t>State: </a:t>
            </a:r>
            <a:r>
              <a:rPr lang="en-GB" dirty="0"/>
              <a:t>A representation of the environment at a specific point in time. It provides the agent with information about the current situation, which it uses to decide on the next action.</a:t>
            </a:r>
          </a:p>
          <a:p>
            <a:endParaRPr lang="en-GB" b="1" dirty="0"/>
          </a:p>
        </p:txBody>
      </p:sp>
      <p:pic>
        <p:nvPicPr>
          <p:cNvPr id="10" name="Picture 9">
            <a:extLst>
              <a:ext uri="{FF2B5EF4-FFF2-40B4-BE49-F238E27FC236}">
                <a16:creationId xmlns:a16="http://schemas.microsoft.com/office/drawing/2014/main" id="{1A37F6E2-EF99-196A-0751-1AFCBBE2766A}"/>
              </a:ext>
            </a:extLst>
          </p:cNvPr>
          <p:cNvPicPr>
            <a:picLocks noChangeAspect="1"/>
          </p:cNvPicPr>
          <p:nvPr/>
        </p:nvPicPr>
        <p:blipFill rotWithShape="1">
          <a:blip r:embed="rId3"/>
          <a:srcRect l="30662" r="35979"/>
          <a:stretch/>
        </p:blipFill>
        <p:spPr>
          <a:xfrm>
            <a:off x="9676675" y="4039507"/>
            <a:ext cx="542487" cy="1077592"/>
          </a:xfrm>
          <a:prstGeom prst="rect">
            <a:avLst/>
          </a:prstGeom>
        </p:spPr>
      </p:pic>
    </p:spTree>
    <p:extLst>
      <p:ext uri="{BB962C8B-B14F-4D97-AF65-F5344CB8AC3E}">
        <p14:creationId xmlns:p14="http://schemas.microsoft.com/office/powerpoint/2010/main" val="638590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9AB83E-8905-F1E3-9DEF-4FD79FFF953F}"/>
              </a:ext>
            </a:extLst>
          </p:cNvPr>
          <p:cNvSpPr txBox="1"/>
          <p:nvPr/>
        </p:nvSpPr>
        <p:spPr>
          <a:xfrm>
            <a:off x="481780" y="1199645"/>
            <a:ext cx="7118554" cy="4247317"/>
          </a:xfrm>
          <a:prstGeom prst="rect">
            <a:avLst/>
          </a:prstGeom>
          <a:noFill/>
        </p:spPr>
        <p:txBody>
          <a:bodyPr wrap="square">
            <a:spAutoFit/>
          </a:bodyPr>
          <a:lstStyle/>
          <a:p>
            <a:r>
              <a:rPr lang="en-GB" b="1" dirty="0"/>
              <a:t>Reward: </a:t>
            </a:r>
            <a:r>
              <a:rPr lang="en-GB" dirty="0"/>
              <a:t>Feedback from the environment indicating the immediate value of an action. The agent's goal is to maximize the cumulative reward over time.</a:t>
            </a:r>
          </a:p>
          <a:p>
            <a:endParaRPr lang="en-GB" b="1" dirty="0"/>
          </a:p>
          <a:p>
            <a:r>
              <a:rPr lang="en-GB" b="1" dirty="0"/>
              <a:t>Policy: </a:t>
            </a:r>
            <a:r>
              <a:rPr lang="en-GB" dirty="0"/>
              <a:t>A strategy or rule the agent follows to determine its actions based on the current state. </a:t>
            </a:r>
          </a:p>
          <a:p>
            <a:r>
              <a:rPr lang="en-GB" b="1" dirty="0"/>
              <a:t>Notes:</a:t>
            </a:r>
            <a:r>
              <a:rPr lang="en-GB" dirty="0"/>
              <a:t> Policies can be deterministic  ( 𝜋(𝑠) = a ) or stochastic ( 𝜋 (𝑎∣𝑠) ).</a:t>
            </a:r>
            <a:endParaRPr lang="en-GB" b="1" dirty="0"/>
          </a:p>
          <a:p>
            <a:endParaRPr lang="en-GB" b="1" dirty="0"/>
          </a:p>
          <a:p>
            <a:r>
              <a:rPr lang="en-GB" b="1" dirty="0"/>
              <a:t>Value: </a:t>
            </a:r>
            <a:r>
              <a:rPr lang="en-GB" dirty="0"/>
              <a:t>The expected cumulative reward of being in a particular state (state value) or performing a specific action in a state (action value). It's often denoted as: 𝑉(𝑠).</a:t>
            </a:r>
          </a:p>
          <a:p>
            <a:endParaRPr lang="en-GB" dirty="0"/>
          </a:p>
          <a:p>
            <a:r>
              <a:rPr lang="en-GB" b="1" dirty="0"/>
              <a:t>(State) Action Value: </a:t>
            </a:r>
            <a:r>
              <a:rPr lang="en-GB" dirty="0"/>
              <a:t>Q(</a:t>
            </a:r>
            <a:r>
              <a:rPr lang="en-GB" dirty="0" err="1"/>
              <a:t>s,a</a:t>
            </a:r>
            <a:r>
              <a:rPr lang="en-GB" dirty="0"/>
              <a:t>), it represents the expected reward for taking a specific action 𝑎  in a specific state  𝑠, considering future rewards.</a:t>
            </a:r>
          </a:p>
        </p:txBody>
      </p:sp>
      <p:sp>
        <p:nvSpPr>
          <p:cNvPr id="7" name="TextBox 6">
            <a:extLst>
              <a:ext uri="{FF2B5EF4-FFF2-40B4-BE49-F238E27FC236}">
                <a16:creationId xmlns:a16="http://schemas.microsoft.com/office/drawing/2014/main" id="{835B0263-CC79-A41C-E5E9-CBE410009D53}"/>
              </a:ext>
            </a:extLst>
          </p:cNvPr>
          <p:cNvSpPr txBox="1"/>
          <p:nvPr/>
        </p:nvSpPr>
        <p:spPr>
          <a:xfrm>
            <a:off x="619433" y="304800"/>
            <a:ext cx="4203010" cy="646331"/>
          </a:xfrm>
          <a:prstGeom prst="rect">
            <a:avLst/>
          </a:prstGeom>
          <a:noFill/>
        </p:spPr>
        <p:txBody>
          <a:bodyPr wrap="none" rtlCol="0">
            <a:spAutoFit/>
          </a:bodyPr>
          <a:lstStyle/>
          <a:p>
            <a:r>
              <a:rPr lang="en-GB" sz="3600" b="1"/>
              <a:t>RL Common Words</a:t>
            </a:r>
            <a:endParaRPr lang="en-US" sz="3600" b="1" dirty="0"/>
          </a:p>
        </p:txBody>
      </p:sp>
      <p:pic>
        <p:nvPicPr>
          <p:cNvPr id="8" name="Picture 7">
            <a:extLst>
              <a:ext uri="{FF2B5EF4-FFF2-40B4-BE49-F238E27FC236}">
                <a16:creationId xmlns:a16="http://schemas.microsoft.com/office/drawing/2014/main" id="{57387F59-AB54-FA59-64D0-3ECFBB547413}"/>
              </a:ext>
            </a:extLst>
          </p:cNvPr>
          <p:cNvPicPr>
            <a:picLocks noChangeAspect="1"/>
          </p:cNvPicPr>
          <p:nvPr/>
        </p:nvPicPr>
        <p:blipFill>
          <a:blip r:embed="rId2"/>
          <a:srcRect l="3146"/>
          <a:stretch/>
        </p:blipFill>
        <p:spPr>
          <a:xfrm>
            <a:off x="7369559" y="701546"/>
            <a:ext cx="4682307" cy="4229682"/>
          </a:xfrm>
          <a:prstGeom prst="rect">
            <a:avLst/>
          </a:prstGeom>
        </p:spPr>
      </p:pic>
      <p:pic>
        <p:nvPicPr>
          <p:cNvPr id="9" name="Picture 8">
            <a:extLst>
              <a:ext uri="{FF2B5EF4-FFF2-40B4-BE49-F238E27FC236}">
                <a16:creationId xmlns:a16="http://schemas.microsoft.com/office/drawing/2014/main" id="{61B17F39-7EDC-2DEF-B83A-894DA7A5ABAB}"/>
              </a:ext>
            </a:extLst>
          </p:cNvPr>
          <p:cNvPicPr>
            <a:picLocks noChangeAspect="1"/>
          </p:cNvPicPr>
          <p:nvPr/>
        </p:nvPicPr>
        <p:blipFill rotWithShape="1">
          <a:blip r:embed="rId3"/>
          <a:srcRect l="30662" r="35979"/>
          <a:stretch/>
        </p:blipFill>
        <p:spPr>
          <a:xfrm>
            <a:off x="9710712" y="3495221"/>
            <a:ext cx="542487" cy="1077592"/>
          </a:xfrm>
          <a:prstGeom prst="rect">
            <a:avLst/>
          </a:prstGeom>
        </p:spPr>
      </p:pic>
      <p:pic>
        <p:nvPicPr>
          <p:cNvPr id="10" name="Picture 9">
            <a:extLst>
              <a:ext uri="{FF2B5EF4-FFF2-40B4-BE49-F238E27FC236}">
                <a16:creationId xmlns:a16="http://schemas.microsoft.com/office/drawing/2014/main" id="{2F52D5AE-4D77-596D-0835-C0E9F0AD1030}"/>
              </a:ext>
            </a:extLst>
          </p:cNvPr>
          <p:cNvPicPr>
            <a:picLocks noChangeAspect="1"/>
          </p:cNvPicPr>
          <p:nvPr/>
        </p:nvPicPr>
        <p:blipFill>
          <a:blip r:embed="rId4"/>
          <a:stretch>
            <a:fillRect/>
          </a:stretch>
        </p:blipFill>
        <p:spPr>
          <a:xfrm>
            <a:off x="3040231" y="5429327"/>
            <a:ext cx="5394791" cy="1068898"/>
          </a:xfrm>
          <a:prstGeom prst="rect">
            <a:avLst/>
          </a:prstGeom>
        </p:spPr>
      </p:pic>
    </p:spTree>
    <p:extLst>
      <p:ext uri="{BB962C8B-B14F-4D97-AF65-F5344CB8AC3E}">
        <p14:creationId xmlns:p14="http://schemas.microsoft.com/office/powerpoint/2010/main" val="3359481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094EFE-D8BC-19A2-754B-E1AEB9D6E76B}"/>
              </a:ext>
            </a:extLst>
          </p:cNvPr>
          <p:cNvPicPr>
            <a:picLocks noChangeAspect="1"/>
          </p:cNvPicPr>
          <p:nvPr/>
        </p:nvPicPr>
        <p:blipFill>
          <a:blip r:embed="rId2"/>
          <a:stretch>
            <a:fillRect/>
          </a:stretch>
        </p:blipFill>
        <p:spPr>
          <a:xfrm>
            <a:off x="1629277" y="1166640"/>
            <a:ext cx="8341906" cy="4524720"/>
          </a:xfrm>
          <a:prstGeom prst="rect">
            <a:avLst/>
          </a:prstGeom>
        </p:spPr>
      </p:pic>
      <p:sp>
        <p:nvSpPr>
          <p:cNvPr id="6" name="TextBox 5">
            <a:extLst>
              <a:ext uri="{FF2B5EF4-FFF2-40B4-BE49-F238E27FC236}">
                <a16:creationId xmlns:a16="http://schemas.microsoft.com/office/drawing/2014/main" id="{C3FFD0E2-1296-EB09-248D-A1AE78FACD82}"/>
              </a:ext>
            </a:extLst>
          </p:cNvPr>
          <p:cNvSpPr txBox="1"/>
          <p:nvPr/>
        </p:nvSpPr>
        <p:spPr>
          <a:xfrm>
            <a:off x="589936" y="343695"/>
            <a:ext cx="2609625" cy="584775"/>
          </a:xfrm>
          <a:prstGeom prst="rect">
            <a:avLst/>
          </a:prstGeom>
          <a:noFill/>
        </p:spPr>
        <p:txBody>
          <a:bodyPr wrap="none" rtlCol="0">
            <a:spAutoFit/>
          </a:bodyPr>
          <a:lstStyle/>
          <a:p>
            <a:r>
              <a:rPr lang="en-GB" sz="3200" b="1" dirty="0">
                <a:effectLst>
                  <a:outerShdw blurRad="38100" dist="38100" dir="2700000" algn="tl">
                    <a:srgbClr val="000000">
                      <a:alpha val="43137"/>
                    </a:srgbClr>
                  </a:outerShdw>
                </a:effectLst>
              </a:rPr>
              <a:t>RL Taxonomy</a:t>
            </a:r>
            <a:endParaRPr lang="en-US" sz="3200" b="1" dirty="0">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1189D111-18C5-D0A3-1161-3C56B6DA48F8}"/>
              </a:ext>
            </a:extLst>
          </p:cNvPr>
          <p:cNvSpPr txBox="1"/>
          <p:nvPr/>
        </p:nvSpPr>
        <p:spPr>
          <a:xfrm>
            <a:off x="1049173" y="5852585"/>
            <a:ext cx="7731033" cy="369332"/>
          </a:xfrm>
          <a:prstGeom prst="rect">
            <a:avLst/>
          </a:prstGeom>
          <a:noFill/>
        </p:spPr>
        <p:txBody>
          <a:bodyPr wrap="square">
            <a:spAutoFit/>
          </a:bodyPr>
          <a:lstStyle/>
          <a:p>
            <a:r>
              <a:rPr lang="en-GB" dirty="0"/>
              <a:t>Zhang, H. et al. (2020). Taxonomy of Reinforcement Learning Algorithms</a:t>
            </a:r>
            <a:endParaRPr lang="en-US" dirty="0"/>
          </a:p>
        </p:txBody>
      </p:sp>
    </p:spTree>
    <p:extLst>
      <p:ext uri="{BB962C8B-B14F-4D97-AF65-F5344CB8AC3E}">
        <p14:creationId xmlns:p14="http://schemas.microsoft.com/office/powerpoint/2010/main" val="1076108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439FA-99E0-CEFF-5208-43C62F3AE31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ECDA49-779B-8A6C-72A6-007D80C779C2}"/>
              </a:ext>
            </a:extLst>
          </p:cNvPr>
          <p:cNvPicPr>
            <a:picLocks noChangeAspect="1"/>
          </p:cNvPicPr>
          <p:nvPr/>
        </p:nvPicPr>
        <p:blipFill>
          <a:blip r:embed="rId2"/>
          <a:stretch>
            <a:fillRect/>
          </a:stretch>
        </p:blipFill>
        <p:spPr>
          <a:xfrm>
            <a:off x="1629277" y="1166640"/>
            <a:ext cx="8341906" cy="4524720"/>
          </a:xfrm>
          <a:prstGeom prst="rect">
            <a:avLst/>
          </a:prstGeom>
        </p:spPr>
      </p:pic>
      <p:sp>
        <p:nvSpPr>
          <p:cNvPr id="6" name="TextBox 5">
            <a:extLst>
              <a:ext uri="{FF2B5EF4-FFF2-40B4-BE49-F238E27FC236}">
                <a16:creationId xmlns:a16="http://schemas.microsoft.com/office/drawing/2014/main" id="{D62DB729-393D-2799-66A9-336F410E1E8A}"/>
              </a:ext>
            </a:extLst>
          </p:cNvPr>
          <p:cNvSpPr txBox="1"/>
          <p:nvPr/>
        </p:nvSpPr>
        <p:spPr>
          <a:xfrm>
            <a:off x="589936" y="343695"/>
            <a:ext cx="2609625" cy="584775"/>
          </a:xfrm>
          <a:prstGeom prst="rect">
            <a:avLst/>
          </a:prstGeom>
          <a:noFill/>
        </p:spPr>
        <p:txBody>
          <a:bodyPr wrap="none" rtlCol="0">
            <a:spAutoFit/>
          </a:bodyPr>
          <a:lstStyle/>
          <a:p>
            <a:r>
              <a:rPr lang="en-GB" sz="3200" b="1" dirty="0">
                <a:effectLst>
                  <a:outerShdw blurRad="38100" dist="38100" dir="2700000" algn="tl">
                    <a:srgbClr val="000000">
                      <a:alpha val="43137"/>
                    </a:srgbClr>
                  </a:outerShdw>
                </a:effectLst>
              </a:rPr>
              <a:t>RL Taxonomy</a:t>
            </a:r>
            <a:endParaRPr lang="en-US" sz="3200" b="1" dirty="0">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01A5840F-6E99-F6EB-87A1-C2DC07D2B13D}"/>
              </a:ext>
            </a:extLst>
          </p:cNvPr>
          <p:cNvSpPr txBox="1"/>
          <p:nvPr/>
        </p:nvSpPr>
        <p:spPr>
          <a:xfrm>
            <a:off x="1049173" y="5852585"/>
            <a:ext cx="7731033" cy="369332"/>
          </a:xfrm>
          <a:prstGeom prst="rect">
            <a:avLst/>
          </a:prstGeom>
          <a:noFill/>
        </p:spPr>
        <p:txBody>
          <a:bodyPr wrap="square">
            <a:spAutoFit/>
          </a:bodyPr>
          <a:lstStyle/>
          <a:p>
            <a:r>
              <a:rPr lang="en-GB" dirty="0"/>
              <a:t>Zhang, H. et al. (2020). Taxonomy of Reinforcement Learning Algorithms</a:t>
            </a:r>
            <a:endParaRPr 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95B402B-8D9E-8EDA-EBF7-A2B78897EBED}"/>
                  </a:ext>
                </a:extLst>
              </p14:cNvPr>
              <p14:cNvContentPartPr/>
              <p14:nvPr/>
            </p14:nvContentPartPr>
            <p14:xfrm>
              <a:off x="7755410" y="1924788"/>
              <a:ext cx="862560" cy="209520"/>
            </p14:xfrm>
          </p:contentPart>
        </mc:Choice>
        <mc:Fallback xmlns="">
          <p:pic>
            <p:nvPicPr>
              <p:cNvPr id="2" name="Ink 1">
                <a:extLst>
                  <a:ext uri="{FF2B5EF4-FFF2-40B4-BE49-F238E27FC236}">
                    <a16:creationId xmlns:a16="http://schemas.microsoft.com/office/drawing/2014/main" id="{A95B402B-8D9E-8EDA-EBF7-A2B78897EBED}"/>
                  </a:ext>
                </a:extLst>
              </p:cNvPr>
              <p:cNvPicPr/>
              <p:nvPr/>
            </p:nvPicPr>
            <p:blipFill>
              <a:blip r:embed="rId4"/>
              <a:stretch>
                <a:fillRect/>
              </a:stretch>
            </p:blipFill>
            <p:spPr>
              <a:xfrm>
                <a:off x="7701410" y="1817148"/>
                <a:ext cx="970200" cy="425160"/>
              </a:xfrm>
              <a:prstGeom prst="rect">
                <a:avLst/>
              </a:prstGeom>
            </p:spPr>
          </p:pic>
        </mc:Fallback>
      </mc:AlternateContent>
    </p:spTree>
    <p:extLst>
      <p:ext uri="{BB962C8B-B14F-4D97-AF65-F5344CB8AC3E}">
        <p14:creationId xmlns:p14="http://schemas.microsoft.com/office/powerpoint/2010/main" val="3398822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286CA-2C66-38E5-1143-3648F78A60C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2558B31-8014-CD6C-9138-D2ADE0DDFC42}"/>
              </a:ext>
            </a:extLst>
          </p:cNvPr>
          <p:cNvPicPr>
            <a:picLocks noChangeAspect="1"/>
          </p:cNvPicPr>
          <p:nvPr/>
        </p:nvPicPr>
        <p:blipFill>
          <a:blip r:embed="rId2"/>
          <a:stretch>
            <a:fillRect/>
          </a:stretch>
        </p:blipFill>
        <p:spPr>
          <a:xfrm>
            <a:off x="1629277" y="1166640"/>
            <a:ext cx="8341906" cy="4524720"/>
          </a:xfrm>
          <a:prstGeom prst="rect">
            <a:avLst/>
          </a:prstGeom>
        </p:spPr>
      </p:pic>
      <p:sp>
        <p:nvSpPr>
          <p:cNvPr id="6" name="TextBox 5">
            <a:extLst>
              <a:ext uri="{FF2B5EF4-FFF2-40B4-BE49-F238E27FC236}">
                <a16:creationId xmlns:a16="http://schemas.microsoft.com/office/drawing/2014/main" id="{56475FF0-C8F7-EEB6-817A-83F437AE6382}"/>
              </a:ext>
            </a:extLst>
          </p:cNvPr>
          <p:cNvSpPr txBox="1"/>
          <p:nvPr/>
        </p:nvSpPr>
        <p:spPr>
          <a:xfrm>
            <a:off x="589936" y="343695"/>
            <a:ext cx="2609625" cy="584775"/>
          </a:xfrm>
          <a:prstGeom prst="rect">
            <a:avLst/>
          </a:prstGeom>
          <a:noFill/>
        </p:spPr>
        <p:txBody>
          <a:bodyPr wrap="none" rtlCol="0">
            <a:spAutoFit/>
          </a:bodyPr>
          <a:lstStyle/>
          <a:p>
            <a:r>
              <a:rPr lang="en-GB" sz="3200" b="1" dirty="0">
                <a:effectLst>
                  <a:outerShdw blurRad="38100" dist="38100" dir="2700000" algn="tl">
                    <a:srgbClr val="000000">
                      <a:alpha val="43137"/>
                    </a:srgbClr>
                  </a:outerShdw>
                </a:effectLst>
              </a:rPr>
              <a:t>RL Taxonomy</a:t>
            </a:r>
            <a:endParaRPr lang="en-US" sz="3200" b="1" dirty="0">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E248874F-C522-6B47-7B4F-831828BB34AA}"/>
              </a:ext>
            </a:extLst>
          </p:cNvPr>
          <p:cNvSpPr txBox="1"/>
          <p:nvPr/>
        </p:nvSpPr>
        <p:spPr>
          <a:xfrm>
            <a:off x="1049173" y="5852585"/>
            <a:ext cx="7731033" cy="369332"/>
          </a:xfrm>
          <a:prstGeom prst="rect">
            <a:avLst/>
          </a:prstGeom>
          <a:noFill/>
        </p:spPr>
        <p:txBody>
          <a:bodyPr wrap="square">
            <a:spAutoFit/>
          </a:bodyPr>
          <a:lstStyle/>
          <a:p>
            <a:r>
              <a:rPr lang="en-GB" dirty="0"/>
              <a:t>Zhang, H. et al. (2020). Taxonomy of Reinforcement Learning Algorithms</a:t>
            </a:r>
            <a:endParaRPr lang="en-US"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5171948-9C4B-04DC-AB9A-6DB4BEA23C23}"/>
                  </a:ext>
                </a:extLst>
              </p14:cNvPr>
              <p14:cNvContentPartPr/>
              <p14:nvPr/>
            </p14:nvContentPartPr>
            <p14:xfrm>
              <a:off x="7755410" y="1924788"/>
              <a:ext cx="862560" cy="209520"/>
            </p14:xfrm>
          </p:contentPart>
        </mc:Choice>
        <mc:Fallback xmlns="">
          <p:pic>
            <p:nvPicPr>
              <p:cNvPr id="2" name="Ink 1">
                <a:extLst>
                  <a:ext uri="{FF2B5EF4-FFF2-40B4-BE49-F238E27FC236}">
                    <a16:creationId xmlns:a16="http://schemas.microsoft.com/office/drawing/2014/main" id="{65171948-9C4B-04DC-AB9A-6DB4BEA23C23}"/>
                  </a:ext>
                </a:extLst>
              </p:cNvPr>
              <p:cNvPicPr/>
              <p:nvPr/>
            </p:nvPicPr>
            <p:blipFill>
              <a:blip r:embed="rId4"/>
              <a:stretch>
                <a:fillRect/>
              </a:stretch>
            </p:blipFill>
            <p:spPr>
              <a:xfrm>
                <a:off x="7701410" y="1817148"/>
                <a:ext cx="970200" cy="425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A351350D-F215-8905-6DC1-3576B886F069}"/>
                  </a:ext>
                </a:extLst>
              </p14:cNvPr>
              <p14:cNvContentPartPr/>
              <p14:nvPr/>
            </p14:nvContentPartPr>
            <p14:xfrm>
              <a:off x="5744810" y="2493228"/>
              <a:ext cx="1218600" cy="177480"/>
            </p14:xfrm>
          </p:contentPart>
        </mc:Choice>
        <mc:Fallback xmlns="">
          <p:pic>
            <p:nvPicPr>
              <p:cNvPr id="4" name="Ink 3">
                <a:extLst>
                  <a:ext uri="{FF2B5EF4-FFF2-40B4-BE49-F238E27FC236}">
                    <a16:creationId xmlns:a16="http://schemas.microsoft.com/office/drawing/2014/main" id="{A351350D-F215-8905-6DC1-3576B886F069}"/>
                  </a:ext>
                </a:extLst>
              </p:cNvPr>
              <p:cNvPicPr/>
              <p:nvPr/>
            </p:nvPicPr>
            <p:blipFill>
              <a:blip r:embed="rId6"/>
              <a:stretch>
                <a:fillRect/>
              </a:stretch>
            </p:blipFill>
            <p:spPr>
              <a:xfrm>
                <a:off x="5690810" y="2385588"/>
                <a:ext cx="1326240" cy="393120"/>
              </a:xfrm>
              <a:prstGeom prst="rect">
                <a:avLst/>
              </a:prstGeom>
            </p:spPr>
          </p:pic>
        </mc:Fallback>
      </mc:AlternateContent>
    </p:spTree>
    <p:extLst>
      <p:ext uri="{BB962C8B-B14F-4D97-AF65-F5344CB8AC3E}">
        <p14:creationId xmlns:p14="http://schemas.microsoft.com/office/powerpoint/2010/main" val="3540598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82AC7A-5350-74B4-0192-E176D00475D3}"/>
              </a:ext>
            </a:extLst>
          </p:cNvPr>
          <p:cNvSpPr txBox="1"/>
          <p:nvPr/>
        </p:nvSpPr>
        <p:spPr>
          <a:xfrm>
            <a:off x="1032386" y="1375803"/>
            <a:ext cx="8632724" cy="1015663"/>
          </a:xfrm>
          <a:prstGeom prst="rect">
            <a:avLst/>
          </a:prstGeom>
          <a:noFill/>
        </p:spPr>
        <p:txBody>
          <a:bodyPr wrap="square">
            <a:spAutoFit/>
          </a:bodyPr>
          <a:lstStyle/>
          <a:p>
            <a:r>
              <a:rPr lang="en-GB" sz="2000" b="1" dirty="0"/>
              <a:t>Bandit problems</a:t>
            </a:r>
            <a:r>
              <a:rPr lang="en-GB" sz="2000" dirty="0"/>
              <a:t> do not involve states or transitions. The agent chooses actions (arms of a bandit), receives rewards, and aims to maximize cumulative rewards.</a:t>
            </a:r>
          </a:p>
        </p:txBody>
      </p:sp>
      <p:sp>
        <p:nvSpPr>
          <p:cNvPr id="7" name="TextBox 6">
            <a:extLst>
              <a:ext uri="{FF2B5EF4-FFF2-40B4-BE49-F238E27FC236}">
                <a16:creationId xmlns:a16="http://schemas.microsoft.com/office/drawing/2014/main" id="{12721039-0420-9C21-8D93-9C601A8F9572}"/>
              </a:ext>
            </a:extLst>
          </p:cNvPr>
          <p:cNvSpPr txBox="1"/>
          <p:nvPr/>
        </p:nvSpPr>
        <p:spPr>
          <a:xfrm>
            <a:off x="1032386" y="2621961"/>
            <a:ext cx="8701551" cy="1015663"/>
          </a:xfrm>
          <a:prstGeom prst="rect">
            <a:avLst/>
          </a:prstGeom>
          <a:noFill/>
        </p:spPr>
        <p:txBody>
          <a:bodyPr wrap="square">
            <a:spAutoFit/>
          </a:bodyPr>
          <a:lstStyle/>
          <a:p>
            <a:r>
              <a:rPr lang="en-GB" sz="2000" b="1" dirty="0"/>
              <a:t>Model-free methods </a:t>
            </a:r>
            <a:r>
              <a:rPr lang="en-GB" sz="2000" dirty="0"/>
              <a:t>learn optimal policies or value functions directly from interactions with the environment without constructing or utilizing a model of the environment's dynamics.</a:t>
            </a:r>
          </a:p>
        </p:txBody>
      </p:sp>
      <p:sp>
        <p:nvSpPr>
          <p:cNvPr id="9" name="TextBox 8">
            <a:extLst>
              <a:ext uri="{FF2B5EF4-FFF2-40B4-BE49-F238E27FC236}">
                <a16:creationId xmlns:a16="http://schemas.microsoft.com/office/drawing/2014/main" id="{4D29D9D0-ABC9-B832-F72F-E2F1498D984E}"/>
              </a:ext>
            </a:extLst>
          </p:cNvPr>
          <p:cNvSpPr txBox="1"/>
          <p:nvPr/>
        </p:nvSpPr>
        <p:spPr>
          <a:xfrm>
            <a:off x="1032386" y="3854463"/>
            <a:ext cx="8937524" cy="707886"/>
          </a:xfrm>
          <a:prstGeom prst="rect">
            <a:avLst/>
          </a:prstGeom>
          <a:noFill/>
        </p:spPr>
        <p:txBody>
          <a:bodyPr wrap="square">
            <a:spAutoFit/>
          </a:bodyPr>
          <a:lstStyle/>
          <a:p>
            <a:r>
              <a:rPr lang="en-GB" sz="2000" b="1" dirty="0"/>
              <a:t>Model-based methods</a:t>
            </a:r>
            <a:r>
              <a:rPr lang="en-GB" sz="2000" dirty="0"/>
              <a:t> learn or use a model of the environment's dynamics (state transitions and rewards) to plan and make decisions.</a:t>
            </a:r>
          </a:p>
        </p:txBody>
      </p:sp>
      <p:sp>
        <p:nvSpPr>
          <p:cNvPr id="10" name="TextBox 9">
            <a:extLst>
              <a:ext uri="{FF2B5EF4-FFF2-40B4-BE49-F238E27FC236}">
                <a16:creationId xmlns:a16="http://schemas.microsoft.com/office/drawing/2014/main" id="{D5676A09-5DC3-360A-059B-EFAC58BD3EF5}"/>
              </a:ext>
            </a:extLst>
          </p:cNvPr>
          <p:cNvSpPr txBox="1"/>
          <p:nvPr/>
        </p:nvSpPr>
        <p:spPr>
          <a:xfrm>
            <a:off x="589936" y="343695"/>
            <a:ext cx="5503814" cy="584775"/>
          </a:xfrm>
          <a:prstGeom prst="rect">
            <a:avLst/>
          </a:prstGeom>
          <a:noFill/>
        </p:spPr>
        <p:txBody>
          <a:bodyPr wrap="none" rtlCol="0">
            <a:spAutoFit/>
          </a:bodyPr>
          <a:lstStyle/>
          <a:p>
            <a:r>
              <a:rPr lang="en-GB" sz="3200" b="1" dirty="0">
                <a:effectLst>
                  <a:outerShdw blurRad="38100" dist="38100" dir="2700000" algn="tl">
                    <a:srgbClr val="000000">
                      <a:alpha val="43137"/>
                    </a:srgbClr>
                  </a:outerShdw>
                </a:effectLst>
              </a:rPr>
              <a:t>Main Stream RL Approaches</a:t>
            </a:r>
            <a:endParaRPr lang="en-US" sz="3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78236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CD88A59-C5E9-9118-3DC6-2AF6ACCF8078}"/>
              </a:ext>
            </a:extLst>
          </p:cNvPr>
          <p:cNvPicPr>
            <a:picLocks noChangeAspect="1"/>
          </p:cNvPicPr>
          <p:nvPr/>
        </p:nvPicPr>
        <p:blipFill>
          <a:blip r:embed="rId2"/>
          <a:stretch>
            <a:fillRect/>
          </a:stretch>
        </p:blipFill>
        <p:spPr>
          <a:xfrm>
            <a:off x="7105209" y="1597926"/>
            <a:ext cx="4824917" cy="2932793"/>
          </a:xfrm>
          <a:prstGeom prst="rect">
            <a:avLst/>
          </a:prstGeom>
        </p:spPr>
      </p:pic>
      <p:pic>
        <p:nvPicPr>
          <p:cNvPr id="10" name="Picture 9">
            <a:extLst>
              <a:ext uri="{FF2B5EF4-FFF2-40B4-BE49-F238E27FC236}">
                <a16:creationId xmlns:a16="http://schemas.microsoft.com/office/drawing/2014/main" id="{B8596FBE-F9F9-7C28-569C-9F3088C9B71D}"/>
              </a:ext>
            </a:extLst>
          </p:cNvPr>
          <p:cNvPicPr>
            <a:picLocks noChangeAspect="1"/>
          </p:cNvPicPr>
          <p:nvPr/>
        </p:nvPicPr>
        <p:blipFill>
          <a:blip r:embed="rId3"/>
          <a:stretch>
            <a:fillRect/>
          </a:stretch>
        </p:blipFill>
        <p:spPr>
          <a:xfrm>
            <a:off x="272144" y="1761213"/>
            <a:ext cx="6738500" cy="2397536"/>
          </a:xfrm>
          <a:prstGeom prst="rect">
            <a:avLst/>
          </a:prstGeom>
        </p:spPr>
      </p:pic>
      <p:sp>
        <p:nvSpPr>
          <p:cNvPr id="12" name="TextBox 11">
            <a:extLst>
              <a:ext uri="{FF2B5EF4-FFF2-40B4-BE49-F238E27FC236}">
                <a16:creationId xmlns:a16="http://schemas.microsoft.com/office/drawing/2014/main" id="{0D384587-A8C3-A4CB-EB3D-9320C18FEAA7}"/>
              </a:ext>
            </a:extLst>
          </p:cNvPr>
          <p:cNvSpPr txBox="1"/>
          <p:nvPr/>
        </p:nvSpPr>
        <p:spPr>
          <a:xfrm>
            <a:off x="756679" y="4238331"/>
            <a:ext cx="6096000" cy="584775"/>
          </a:xfrm>
          <a:prstGeom prst="rect">
            <a:avLst/>
          </a:prstGeom>
          <a:noFill/>
        </p:spPr>
        <p:txBody>
          <a:bodyPr wrap="square">
            <a:spAutoFit/>
          </a:bodyPr>
          <a:lstStyle/>
          <a:p>
            <a:r>
              <a:rPr lang="en-GB" sz="1600" dirty="0">
                <a:hlinkClick r:id="rId4"/>
              </a:rPr>
              <a:t>Reinforcement Learning — Multi-Arm Bandit Implementation | by Jeremy Zhang | Towards Data Science</a:t>
            </a:r>
            <a:endParaRPr lang="en-US" sz="1600" dirty="0"/>
          </a:p>
        </p:txBody>
      </p:sp>
      <p:sp>
        <p:nvSpPr>
          <p:cNvPr id="14" name="TextBox 13">
            <a:extLst>
              <a:ext uri="{FF2B5EF4-FFF2-40B4-BE49-F238E27FC236}">
                <a16:creationId xmlns:a16="http://schemas.microsoft.com/office/drawing/2014/main" id="{01B1EE6A-04BB-BED5-F777-E61DB82AE717}"/>
              </a:ext>
            </a:extLst>
          </p:cNvPr>
          <p:cNvSpPr txBox="1"/>
          <p:nvPr/>
        </p:nvSpPr>
        <p:spPr>
          <a:xfrm>
            <a:off x="7232431" y="5681562"/>
            <a:ext cx="4824917" cy="646331"/>
          </a:xfrm>
          <a:prstGeom prst="rect">
            <a:avLst/>
          </a:prstGeom>
          <a:noFill/>
        </p:spPr>
        <p:txBody>
          <a:bodyPr wrap="square">
            <a:spAutoFit/>
          </a:bodyPr>
          <a:lstStyle/>
          <a:p>
            <a:r>
              <a:rPr lang="en-GB" sz="1200" dirty="0">
                <a:hlinkClick r:id="rId5"/>
              </a:rPr>
              <a:t>Building a Multi-Armed Bandit System from the Ground Up: A Recommendations and Ranking Case Study, Part I | by Austin Wang | Udemy Tech Blog | Medium</a:t>
            </a:r>
            <a:endParaRPr lang="en-US" sz="1200" dirty="0"/>
          </a:p>
        </p:txBody>
      </p:sp>
      <p:sp>
        <p:nvSpPr>
          <p:cNvPr id="16" name="TextBox 15">
            <a:extLst>
              <a:ext uri="{FF2B5EF4-FFF2-40B4-BE49-F238E27FC236}">
                <a16:creationId xmlns:a16="http://schemas.microsoft.com/office/drawing/2014/main" id="{A000C6C2-60CB-B0FA-B968-CCA3FA173490}"/>
              </a:ext>
            </a:extLst>
          </p:cNvPr>
          <p:cNvSpPr txBox="1"/>
          <p:nvPr/>
        </p:nvSpPr>
        <p:spPr>
          <a:xfrm>
            <a:off x="381000" y="563503"/>
            <a:ext cx="5290457" cy="584775"/>
          </a:xfrm>
          <a:prstGeom prst="rect">
            <a:avLst/>
          </a:prstGeom>
          <a:noFill/>
        </p:spPr>
        <p:txBody>
          <a:bodyPr wrap="square">
            <a:spAutoFit/>
          </a:bodyPr>
          <a:lstStyle/>
          <a:p>
            <a:r>
              <a:rPr lang="en-GB" sz="3200" b="1" dirty="0">
                <a:effectLst>
                  <a:outerShdw blurRad="38100" dist="38100" dir="2700000" algn="tl">
                    <a:srgbClr val="000000">
                      <a:alpha val="43137"/>
                    </a:srgbClr>
                  </a:outerShdw>
                </a:effectLst>
              </a:rPr>
              <a:t>Multi-armed Bandits</a:t>
            </a:r>
            <a:endParaRPr lang="en-US" sz="3200" dirty="0">
              <a:effectLst>
                <a:outerShdw blurRad="38100" dist="38100" dir="2700000" algn="tl">
                  <a:srgbClr val="000000">
                    <a:alpha val="43137"/>
                  </a:srgbClr>
                </a:outerShdw>
              </a:effectLst>
            </a:endParaRPr>
          </a:p>
        </p:txBody>
      </p:sp>
      <p:sp>
        <p:nvSpPr>
          <p:cNvPr id="18" name="TextBox 17">
            <a:extLst>
              <a:ext uri="{FF2B5EF4-FFF2-40B4-BE49-F238E27FC236}">
                <a16:creationId xmlns:a16="http://schemas.microsoft.com/office/drawing/2014/main" id="{26B436B4-877D-8B9F-CF9E-A15417D85C85}"/>
              </a:ext>
            </a:extLst>
          </p:cNvPr>
          <p:cNvSpPr txBox="1"/>
          <p:nvPr/>
        </p:nvSpPr>
        <p:spPr>
          <a:xfrm>
            <a:off x="381000" y="1013151"/>
            <a:ext cx="4316064" cy="369332"/>
          </a:xfrm>
          <a:prstGeom prst="rect">
            <a:avLst/>
          </a:prstGeom>
          <a:noFill/>
        </p:spPr>
        <p:txBody>
          <a:bodyPr wrap="square">
            <a:spAutoFit/>
          </a:bodyPr>
          <a:lstStyle/>
          <a:p>
            <a:r>
              <a:rPr lang="en-US" dirty="0">
                <a:hlinkClick r:id="rId6"/>
              </a:rPr>
              <a:t>multi-armed-</a:t>
            </a:r>
            <a:r>
              <a:rPr lang="en-US" dirty="0" err="1">
                <a:hlinkClick r:id="rId6"/>
              </a:rPr>
              <a:t>bandits.ipynb</a:t>
            </a:r>
            <a:r>
              <a:rPr lang="en-US" dirty="0">
                <a:hlinkClick r:id="rId6"/>
              </a:rPr>
              <a:t> - </a:t>
            </a:r>
            <a:r>
              <a:rPr lang="en-US" dirty="0" err="1">
                <a:hlinkClick r:id="rId6"/>
              </a:rPr>
              <a:t>Colab</a:t>
            </a:r>
            <a:endParaRPr lang="en-US" dirty="0"/>
          </a:p>
        </p:txBody>
      </p:sp>
      <p:pic>
        <p:nvPicPr>
          <p:cNvPr id="19" name="Picture 18">
            <a:extLst>
              <a:ext uri="{FF2B5EF4-FFF2-40B4-BE49-F238E27FC236}">
                <a16:creationId xmlns:a16="http://schemas.microsoft.com/office/drawing/2014/main" id="{BA18C003-96B4-32CC-E40F-8686E9CAB3DA}"/>
              </a:ext>
            </a:extLst>
          </p:cNvPr>
          <p:cNvPicPr>
            <a:picLocks noChangeAspect="1"/>
          </p:cNvPicPr>
          <p:nvPr/>
        </p:nvPicPr>
        <p:blipFill rotWithShape="1">
          <a:blip r:embed="rId7"/>
          <a:srcRect l="33320" r="33320" b="43813"/>
          <a:stretch/>
        </p:blipFill>
        <p:spPr>
          <a:xfrm>
            <a:off x="2786908" y="2579914"/>
            <a:ext cx="1251830" cy="1397160"/>
          </a:xfrm>
          <a:prstGeom prst="ellipse">
            <a:avLst/>
          </a:prstGeom>
        </p:spPr>
      </p:pic>
      <p:sp>
        <p:nvSpPr>
          <p:cNvPr id="20" name="Right Brace 19">
            <a:extLst>
              <a:ext uri="{FF2B5EF4-FFF2-40B4-BE49-F238E27FC236}">
                <a16:creationId xmlns:a16="http://schemas.microsoft.com/office/drawing/2014/main" id="{2F6F0CA9-984C-F699-1ED0-F92949A5D898}"/>
              </a:ext>
            </a:extLst>
          </p:cNvPr>
          <p:cNvSpPr/>
          <p:nvPr/>
        </p:nvSpPr>
        <p:spPr>
          <a:xfrm rot="5400000">
            <a:off x="9421731" y="2723690"/>
            <a:ext cx="446314" cy="4060371"/>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42AF092B-F3A3-A7C0-26C1-B66130391E75}"/>
              </a:ext>
            </a:extLst>
          </p:cNvPr>
          <p:cNvSpPr txBox="1"/>
          <p:nvPr/>
        </p:nvSpPr>
        <p:spPr>
          <a:xfrm>
            <a:off x="7437136" y="4977033"/>
            <a:ext cx="4556119" cy="369332"/>
          </a:xfrm>
          <a:prstGeom prst="rect">
            <a:avLst/>
          </a:prstGeom>
          <a:noFill/>
        </p:spPr>
        <p:txBody>
          <a:bodyPr wrap="none" rtlCol="0">
            <a:spAutoFit/>
          </a:bodyPr>
          <a:lstStyle/>
          <a:p>
            <a:r>
              <a:rPr lang="en-GB" b="1" dirty="0"/>
              <a:t>unknown reward distribution for each arm</a:t>
            </a:r>
            <a:endParaRPr lang="en-US" b="1" dirty="0"/>
          </a:p>
        </p:txBody>
      </p:sp>
    </p:spTree>
    <p:extLst>
      <p:ext uri="{BB962C8B-B14F-4D97-AF65-F5344CB8AC3E}">
        <p14:creationId xmlns:p14="http://schemas.microsoft.com/office/powerpoint/2010/main" val="3901937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73A346-39B1-C051-89F5-E182BF5BE913}"/>
              </a:ext>
            </a:extLst>
          </p:cNvPr>
          <p:cNvPicPr>
            <a:picLocks noChangeAspect="1"/>
          </p:cNvPicPr>
          <p:nvPr/>
        </p:nvPicPr>
        <p:blipFill>
          <a:blip r:embed="rId2"/>
          <a:stretch>
            <a:fillRect/>
          </a:stretch>
        </p:blipFill>
        <p:spPr>
          <a:xfrm>
            <a:off x="1681507" y="1041313"/>
            <a:ext cx="4414493" cy="945963"/>
          </a:xfrm>
          <a:prstGeom prst="rect">
            <a:avLst/>
          </a:prstGeom>
        </p:spPr>
      </p:pic>
      <p:sp>
        <p:nvSpPr>
          <p:cNvPr id="6" name="TextBox 5">
            <a:extLst>
              <a:ext uri="{FF2B5EF4-FFF2-40B4-BE49-F238E27FC236}">
                <a16:creationId xmlns:a16="http://schemas.microsoft.com/office/drawing/2014/main" id="{3D8BE8E1-4643-B7EC-ED62-D0180A019D36}"/>
              </a:ext>
            </a:extLst>
          </p:cNvPr>
          <p:cNvSpPr txBox="1"/>
          <p:nvPr/>
        </p:nvSpPr>
        <p:spPr>
          <a:xfrm>
            <a:off x="381000" y="411238"/>
            <a:ext cx="5290457" cy="584775"/>
          </a:xfrm>
          <a:prstGeom prst="rect">
            <a:avLst/>
          </a:prstGeom>
          <a:noFill/>
        </p:spPr>
        <p:txBody>
          <a:bodyPr wrap="square">
            <a:spAutoFit/>
          </a:bodyPr>
          <a:lstStyle/>
          <a:p>
            <a:r>
              <a:rPr lang="en-GB" sz="3200" b="1" dirty="0">
                <a:effectLst>
                  <a:outerShdw blurRad="38100" dist="38100" dir="2700000" algn="tl">
                    <a:srgbClr val="000000">
                      <a:alpha val="43137"/>
                    </a:srgbClr>
                  </a:outerShdw>
                </a:effectLst>
              </a:rPr>
              <a:t>Learning Rules</a:t>
            </a:r>
            <a:endParaRPr lang="en-US" sz="3200" dirty="0">
              <a:effectLst>
                <a:outerShdw blurRad="38100" dist="38100" dir="2700000" algn="tl">
                  <a:srgbClr val="000000">
                    <a:alpha val="43137"/>
                  </a:srgbClr>
                </a:outerShdw>
              </a:effectLst>
            </a:endParaRPr>
          </a:p>
        </p:txBody>
      </p:sp>
      <p:pic>
        <p:nvPicPr>
          <p:cNvPr id="8" name="Picture 7">
            <a:extLst>
              <a:ext uri="{FF2B5EF4-FFF2-40B4-BE49-F238E27FC236}">
                <a16:creationId xmlns:a16="http://schemas.microsoft.com/office/drawing/2014/main" id="{13B6D7ED-ACA6-0537-7A95-7965C80F3662}"/>
              </a:ext>
            </a:extLst>
          </p:cNvPr>
          <p:cNvPicPr>
            <a:picLocks noChangeAspect="1"/>
          </p:cNvPicPr>
          <p:nvPr/>
        </p:nvPicPr>
        <p:blipFill>
          <a:blip r:embed="rId3"/>
          <a:stretch>
            <a:fillRect/>
          </a:stretch>
        </p:blipFill>
        <p:spPr>
          <a:xfrm>
            <a:off x="843043" y="1987276"/>
            <a:ext cx="7321243" cy="2186654"/>
          </a:xfrm>
          <a:prstGeom prst="rect">
            <a:avLst/>
          </a:prstGeom>
        </p:spPr>
      </p:pic>
      <p:pic>
        <p:nvPicPr>
          <p:cNvPr id="10" name="Picture 9">
            <a:extLst>
              <a:ext uri="{FF2B5EF4-FFF2-40B4-BE49-F238E27FC236}">
                <a16:creationId xmlns:a16="http://schemas.microsoft.com/office/drawing/2014/main" id="{C2E0BD91-A00A-1A9E-E8D3-5E2B196A6897}"/>
              </a:ext>
            </a:extLst>
          </p:cNvPr>
          <p:cNvPicPr>
            <a:picLocks noChangeAspect="1"/>
          </p:cNvPicPr>
          <p:nvPr/>
        </p:nvPicPr>
        <p:blipFill>
          <a:blip r:embed="rId4"/>
          <a:stretch>
            <a:fillRect/>
          </a:stretch>
        </p:blipFill>
        <p:spPr>
          <a:xfrm>
            <a:off x="692288" y="4747617"/>
            <a:ext cx="4515480" cy="800212"/>
          </a:xfrm>
          <a:prstGeom prst="rect">
            <a:avLst/>
          </a:prstGeom>
        </p:spPr>
      </p:pic>
      <p:sp>
        <p:nvSpPr>
          <p:cNvPr id="11" name="TextBox 10">
            <a:extLst>
              <a:ext uri="{FF2B5EF4-FFF2-40B4-BE49-F238E27FC236}">
                <a16:creationId xmlns:a16="http://schemas.microsoft.com/office/drawing/2014/main" id="{4A04324D-D11D-7CF7-5F48-50A141CB1711}"/>
              </a:ext>
            </a:extLst>
          </p:cNvPr>
          <p:cNvSpPr txBox="1"/>
          <p:nvPr/>
        </p:nvSpPr>
        <p:spPr>
          <a:xfrm>
            <a:off x="843043" y="4516784"/>
            <a:ext cx="2340449" cy="461665"/>
          </a:xfrm>
          <a:prstGeom prst="rect">
            <a:avLst/>
          </a:prstGeom>
          <a:noFill/>
        </p:spPr>
        <p:txBody>
          <a:bodyPr wrap="none" rtlCol="0">
            <a:spAutoFit/>
          </a:bodyPr>
          <a:lstStyle/>
          <a:p>
            <a:r>
              <a:rPr lang="en-GB" sz="2400" b="1" dirty="0"/>
              <a:t>Epsilon-Greedy</a:t>
            </a:r>
            <a:endParaRPr lang="en-US" sz="2400" b="1"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540AE9-8764-2B19-F48B-2E6C30DBD298}"/>
                  </a:ext>
                </a:extLst>
              </p:cNvPr>
              <p:cNvSpPr txBox="1"/>
              <p:nvPr/>
            </p:nvSpPr>
            <p:spPr>
              <a:xfrm>
                <a:off x="6607628" y="4870724"/>
                <a:ext cx="5170005" cy="553998"/>
              </a:xfrm>
              <a:prstGeom prst="rect">
                <a:avLst/>
              </a:prstGeom>
              <a:noFill/>
            </p:spPr>
            <p:txBody>
              <a:bodyPr wrap="none" lIns="0" tIns="0" rIns="0" bIns="0" rtlCol="0">
                <a:spAutoFit/>
              </a:bodyPr>
              <a:lstStyle/>
              <a:p>
                <a14:m>
                  <m:oMath xmlns:m="http://schemas.openxmlformats.org/officeDocument/2006/math">
                    <m:r>
                      <a:rPr lang="en-GB" b="0" i="1" smtClean="0">
                        <a:latin typeface="Cambria Math" panose="02040503050406030204" pitchFamily="18" charset="0"/>
                      </a:rPr>
                      <m:t>𝜖</m:t>
                    </m:r>
                    <m:r>
                      <a:rPr lang="en-GB" b="0" i="1" smtClean="0">
                        <a:latin typeface="Cambria Math" panose="02040503050406030204" pitchFamily="18" charset="0"/>
                      </a:rPr>
                      <m:t>=0.1</m:t>
                    </m:r>
                  </m:oMath>
                </a14:m>
                <a:r>
                  <a:rPr lang="en-US" dirty="0"/>
                  <a:t> means 10% chance explore random actions.</a:t>
                </a:r>
              </a:p>
              <a:p>
                <a:r>
                  <a:rPr lang="en-US" dirty="0"/>
                  <a:t>90% exploit: choose the current best-known action.</a:t>
                </a:r>
              </a:p>
            </p:txBody>
          </p:sp>
        </mc:Choice>
        <mc:Fallback xmlns="">
          <p:sp>
            <p:nvSpPr>
              <p:cNvPr id="12" name="TextBox 11">
                <a:extLst>
                  <a:ext uri="{FF2B5EF4-FFF2-40B4-BE49-F238E27FC236}">
                    <a16:creationId xmlns:a16="http://schemas.microsoft.com/office/drawing/2014/main" id="{7F540AE9-8764-2B19-F48B-2E6C30DBD298}"/>
                  </a:ext>
                </a:extLst>
              </p:cNvPr>
              <p:cNvSpPr txBox="1">
                <a:spLocks noRot="1" noChangeAspect="1" noMove="1" noResize="1" noEditPoints="1" noAdjustHandles="1" noChangeArrowheads="1" noChangeShapeType="1" noTextEdit="1"/>
              </p:cNvSpPr>
              <p:nvPr/>
            </p:nvSpPr>
            <p:spPr>
              <a:xfrm>
                <a:off x="6607628" y="4870724"/>
                <a:ext cx="5170005" cy="553998"/>
              </a:xfrm>
              <a:prstGeom prst="rect">
                <a:avLst/>
              </a:prstGeom>
              <a:blipFill>
                <a:blip r:embed="rId5"/>
                <a:stretch>
                  <a:fillRect l="-2830" t="-13187" r="-1769" b="-26374"/>
                </a:stretch>
              </a:blipFill>
            </p:spPr>
            <p:txBody>
              <a:bodyPr/>
              <a:lstStyle/>
              <a:p>
                <a:r>
                  <a:rPr lang="en-US">
                    <a:noFill/>
                  </a:rPr>
                  <a:t> </a:t>
                </a:r>
              </a:p>
            </p:txBody>
          </p:sp>
        </mc:Fallback>
      </mc:AlternateContent>
    </p:spTree>
    <p:extLst>
      <p:ext uri="{BB962C8B-B14F-4D97-AF65-F5344CB8AC3E}">
        <p14:creationId xmlns:p14="http://schemas.microsoft.com/office/powerpoint/2010/main" val="192037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4D3433-4EF2-CA23-CDCC-00FC732C3249}"/>
              </a:ext>
            </a:extLst>
          </p:cNvPr>
          <p:cNvPicPr>
            <a:picLocks noChangeAspect="1"/>
          </p:cNvPicPr>
          <p:nvPr/>
        </p:nvPicPr>
        <p:blipFill>
          <a:blip r:embed="rId2"/>
          <a:stretch>
            <a:fillRect/>
          </a:stretch>
        </p:blipFill>
        <p:spPr>
          <a:xfrm>
            <a:off x="2574672" y="1233451"/>
            <a:ext cx="6868484" cy="5134692"/>
          </a:xfrm>
          <a:prstGeom prst="rect">
            <a:avLst/>
          </a:prstGeom>
        </p:spPr>
      </p:pic>
      <p:sp>
        <p:nvSpPr>
          <p:cNvPr id="6" name="TextBox 5">
            <a:extLst>
              <a:ext uri="{FF2B5EF4-FFF2-40B4-BE49-F238E27FC236}">
                <a16:creationId xmlns:a16="http://schemas.microsoft.com/office/drawing/2014/main" id="{A4FD140E-1B14-808E-A445-872AF36F70F1}"/>
              </a:ext>
            </a:extLst>
          </p:cNvPr>
          <p:cNvSpPr txBox="1"/>
          <p:nvPr/>
        </p:nvSpPr>
        <p:spPr>
          <a:xfrm>
            <a:off x="478971" y="347793"/>
            <a:ext cx="6563463" cy="461665"/>
          </a:xfrm>
          <a:prstGeom prst="rect">
            <a:avLst/>
          </a:prstGeom>
          <a:noFill/>
        </p:spPr>
        <p:txBody>
          <a:bodyPr wrap="none" rtlCol="0">
            <a:spAutoFit/>
          </a:bodyPr>
          <a:lstStyle/>
          <a:p>
            <a:r>
              <a:rPr lang="en-GB" sz="2400" b="1" dirty="0"/>
              <a:t>Proportion of Arm that the Agent often choose</a:t>
            </a:r>
            <a:endParaRPr lang="en-US" sz="2400" b="1" dirty="0"/>
          </a:p>
        </p:txBody>
      </p:sp>
    </p:spTree>
    <p:extLst>
      <p:ext uri="{BB962C8B-B14F-4D97-AF65-F5344CB8AC3E}">
        <p14:creationId xmlns:p14="http://schemas.microsoft.com/office/powerpoint/2010/main" val="2154483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4A9EB-CE8B-80DE-4512-5A07289F1E1E}"/>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F189288-F39A-85A5-DB54-7E4C11EDCADD}"/>
              </a:ext>
            </a:extLst>
          </p:cNvPr>
          <p:cNvSpPr txBox="1"/>
          <p:nvPr/>
        </p:nvSpPr>
        <p:spPr>
          <a:xfrm>
            <a:off x="381000" y="563503"/>
            <a:ext cx="5290457" cy="584775"/>
          </a:xfrm>
          <a:prstGeom prst="rect">
            <a:avLst/>
          </a:prstGeom>
          <a:noFill/>
        </p:spPr>
        <p:txBody>
          <a:bodyPr wrap="square">
            <a:spAutoFit/>
          </a:bodyPr>
          <a:lstStyle/>
          <a:p>
            <a:r>
              <a:rPr lang="en-GB" sz="3200" b="1" dirty="0">
                <a:effectLst>
                  <a:outerShdw blurRad="38100" dist="38100" dir="2700000" algn="tl">
                    <a:srgbClr val="000000">
                      <a:alpha val="43137"/>
                    </a:srgbClr>
                  </a:outerShdw>
                </a:effectLst>
              </a:rPr>
              <a:t>Model Free Method</a:t>
            </a:r>
            <a:endParaRPr lang="en-US" sz="3200" dirty="0">
              <a:effectLst>
                <a:outerShdw blurRad="38100" dist="38100" dir="2700000" algn="tl">
                  <a:srgbClr val="000000">
                    <a:alpha val="43137"/>
                  </a:srgbClr>
                </a:outerShdw>
              </a:effectLst>
            </a:endParaRPr>
          </a:p>
        </p:txBody>
      </p:sp>
      <p:sp>
        <p:nvSpPr>
          <p:cNvPr id="2" name="TextBox 1">
            <a:extLst>
              <a:ext uri="{FF2B5EF4-FFF2-40B4-BE49-F238E27FC236}">
                <a16:creationId xmlns:a16="http://schemas.microsoft.com/office/drawing/2014/main" id="{79FDEC9F-9619-FF3B-F6AA-151A2E302B34}"/>
              </a:ext>
            </a:extLst>
          </p:cNvPr>
          <p:cNvSpPr txBox="1"/>
          <p:nvPr/>
        </p:nvSpPr>
        <p:spPr>
          <a:xfrm>
            <a:off x="521025" y="1326772"/>
            <a:ext cx="4256315" cy="461665"/>
          </a:xfrm>
          <a:prstGeom prst="rect">
            <a:avLst/>
          </a:prstGeom>
          <a:noFill/>
        </p:spPr>
        <p:txBody>
          <a:bodyPr wrap="square" rtlCol="0">
            <a:spAutoFit/>
          </a:bodyPr>
          <a:lstStyle/>
          <a:p>
            <a:r>
              <a:rPr lang="en-GB" sz="2400" b="1" dirty="0"/>
              <a:t>Simple Blackjack Card Game</a:t>
            </a:r>
            <a:endParaRPr lang="en-US" sz="2400" b="1" dirty="0"/>
          </a:p>
        </p:txBody>
      </p:sp>
      <p:pic>
        <p:nvPicPr>
          <p:cNvPr id="4" name="Picture 3">
            <a:extLst>
              <a:ext uri="{FF2B5EF4-FFF2-40B4-BE49-F238E27FC236}">
                <a16:creationId xmlns:a16="http://schemas.microsoft.com/office/drawing/2014/main" id="{A39C92E1-F8A5-2BCF-C720-21ADCED21DBC}"/>
              </a:ext>
            </a:extLst>
          </p:cNvPr>
          <p:cNvPicPr>
            <a:picLocks noChangeAspect="1"/>
          </p:cNvPicPr>
          <p:nvPr/>
        </p:nvPicPr>
        <p:blipFill>
          <a:blip r:embed="rId2"/>
          <a:stretch>
            <a:fillRect/>
          </a:stretch>
        </p:blipFill>
        <p:spPr>
          <a:xfrm>
            <a:off x="620485" y="2517122"/>
            <a:ext cx="11146971" cy="1876460"/>
          </a:xfrm>
          <a:prstGeom prst="rect">
            <a:avLst/>
          </a:prstGeom>
        </p:spPr>
      </p:pic>
      <p:pic>
        <p:nvPicPr>
          <p:cNvPr id="6" name="Picture 5">
            <a:extLst>
              <a:ext uri="{FF2B5EF4-FFF2-40B4-BE49-F238E27FC236}">
                <a16:creationId xmlns:a16="http://schemas.microsoft.com/office/drawing/2014/main" id="{ACAF1EE0-4BF0-12B1-BB8C-1A1CB1BF32E4}"/>
              </a:ext>
            </a:extLst>
          </p:cNvPr>
          <p:cNvPicPr>
            <a:picLocks noChangeAspect="1"/>
          </p:cNvPicPr>
          <p:nvPr/>
        </p:nvPicPr>
        <p:blipFill>
          <a:blip r:embed="rId3"/>
          <a:stretch>
            <a:fillRect/>
          </a:stretch>
        </p:blipFill>
        <p:spPr>
          <a:xfrm>
            <a:off x="8355531" y="483173"/>
            <a:ext cx="3411925" cy="1581136"/>
          </a:xfrm>
          <a:prstGeom prst="rect">
            <a:avLst/>
          </a:prstGeom>
        </p:spPr>
      </p:pic>
      <p:sp>
        <p:nvSpPr>
          <p:cNvPr id="7" name="TextBox 6">
            <a:extLst>
              <a:ext uri="{FF2B5EF4-FFF2-40B4-BE49-F238E27FC236}">
                <a16:creationId xmlns:a16="http://schemas.microsoft.com/office/drawing/2014/main" id="{31C942B4-254A-3722-2A91-0FC1D38FA78C}"/>
              </a:ext>
            </a:extLst>
          </p:cNvPr>
          <p:cNvSpPr txBox="1"/>
          <p:nvPr/>
        </p:nvSpPr>
        <p:spPr>
          <a:xfrm>
            <a:off x="521025" y="2064309"/>
            <a:ext cx="3320144" cy="400110"/>
          </a:xfrm>
          <a:prstGeom prst="rect">
            <a:avLst/>
          </a:prstGeom>
          <a:noFill/>
        </p:spPr>
        <p:txBody>
          <a:bodyPr wrap="square" rtlCol="0">
            <a:spAutoFit/>
          </a:bodyPr>
          <a:lstStyle/>
          <a:p>
            <a:r>
              <a:rPr lang="en-GB" sz="2000" b="1" i="1" dirty="0">
                <a:highlight>
                  <a:srgbClr val="FFFF00"/>
                </a:highlight>
              </a:rPr>
              <a:t>Infinite Deck Setting</a:t>
            </a:r>
            <a:endParaRPr lang="en-US" sz="2000" b="1" i="1" dirty="0">
              <a:highlight>
                <a:srgbClr val="FFFF00"/>
              </a:highlight>
            </a:endParaRPr>
          </a:p>
        </p:txBody>
      </p:sp>
      <p:sp>
        <p:nvSpPr>
          <p:cNvPr id="11" name="TextBox 10">
            <a:extLst>
              <a:ext uri="{FF2B5EF4-FFF2-40B4-BE49-F238E27FC236}">
                <a16:creationId xmlns:a16="http://schemas.microsoft.com/office/drawing/2014/main" id="{5AD555A0-2E03-0320-A07A-0C50F4E5FAB9}"/>
              </a:ext>
            </a:extLst>
          </p:cNvPr>
          <p:cNvSpPr txBox="1"/>
          <p:nvPr/>
        </p:nvSpPr>
        <p:spPr>
          <a:xfrm>
            <a:off x="620485" y="4646340"/>
            <a:ext cx="6096000" cy="400110"/>
          </a:xfrm>
          <a:prstGeom prst="rect">
            <a:avLst/>
          </a:prstGeom>
          <a:noFill/>
        </p:spPr>
        <p:txBody>
          <a:bodyPr wrap="square">
            <a:spAutoFit/>
          </a:bodyPr>
          <a:lstStyle/>
          <a:p>
            <a:r>
              <a:rPr lang="en-US" sz="2000" dirty="0">
                <a:hlinkClick r:id="rId4">
                  <a:extLst>
                    <a:ext uri="{A12FA001-AC4F-418D-AE19-62706E023703}">
                      <ahyp:hlinkClr xmlns:ahyp="http://schemas.microsoft.com/office/drawing/2018/hyperlinkcolor" val="tx"/>
                    </a:ext>
                  </a:extLst>
                </a:hlinkClick>
              </a:rPr>
              <a:t>Code: </a:t>
            </a:r>
            <a:r>
              <a:rPr lang="en-US" sz="2000" dirty="0" err="1">
                <a:solidFill>
                  <a:srgbClr val="467886"/>
                </a:solidFill>
                <a:hlinkClick r:id="rId4">
                  <a:extLst>
                    <a:ext uri="{A12FA001-AC4F-418D-AE19-62706E023703}">
                      <ahyp:hlinkClr xmlns:ahyp="http://schemas.microsoft.com/office/drawing/2018/hyperlinkcolor" val="tx"/>
                    </a:ext>
                  </a:extLst>
                </a:hlinkClick>
              </a:rPr>
              <a:t>RL_Backjack.ipynb</a:t>
            </a:r>
            <a:r>
              <a:rPr lang="en-US" sz="2000" dirty="0">
                <a:solidFill>
                  <a:srgbClr val="467886"/>
                </a:solidFill>
                <a:hlinkClick r:id="rId4">
                  <a:extLst>
                    <a:ext uri="{A12FA001-AC4F-418D-AE19-62706E023703}">
                      <ahyp:hlinkClr xmlns:ahyp="http://schemas.microsoft.com/office/drawing/2018/hyperlinkcolor" val="tx"/>
                    </a:ext>
                  </a:extLst>
                </a:hlinkClick>
              </a:rPr>
              <a:t> - </a:t>
            </a:r>
            <a:r>
              <a:rPr lang="en-US" sz="2000" dirty="0" err="1">
                <a:solidFill>
                  <a:srgbClr val="467886"/>
                </a:solidFill>
                <a:hlinkClick r:id="rId4">
                  <a:extLst>
                    <a:ext uri="{A12FA001-AC4F-418D-AE19-62706E023703}">
                      <ahyp:hlinkClr xmlns:ahyp="http://schemas.microsoft.com/office/drawing/2018/hyperlinkcolor" val="tx"/>
                    </a:ext>
                  </a:extLst>
                </a:hlinkClick>
              </a:rPr>
              <a:t>Colab</a:t>
            </a:r>
            <a:endParaRPr lang="en-US" sz="2000" dirty="0"/>
          </a:p>
        </p:txBody>
      </p:sp>
    </p:spTree>
    <p:extLst>
      <p:ext uri="{BB962C8B-B14F-4D97-AF65-F5344CB8AC3E}">
        <p14:creationId xmlns:p14="http://schemas.microsoft.com/office/powerpoint/2010/main" val="3732709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9BFFD6-6C55-3EBD-2E01-CA42EE35C6FF}"/>
              </a:ext>
            </a:extLst>
          </p:cNvPr>
          <p:cNvSpPr txBox="1"/>
          <p:nvPr/>
        </p:nvSpPr>
        <p:spPr>
          <a:xfrm>
            <a:off x="495299" y="1166842"/>
            <a:ext cx="11201401" cy="4893647"/>
          </a:xfrm>
          <a:prstGeom prst="rect">
            <a:avLst/>
          </a:prstGeom>
          <a:noFill/>
        </p:spPr>
        <p:txBody>
          <a:bodyPr wrap="square">
            <a:spAutoFit/>
          </a:bodyPr>
          <a:lstStyle/>
          <a:p>
            <a:r>
              <a:rPr lang="en-US" sz="2400" dirty="0"/>
              <a:t>The </a:t>
            </a:r>
            <a:r>
              <a:rPr lang="en-US" sz="2400" b="1" dirty="0"/>
              <a:t>cards</a:t>
            </a:r>
            <a:r>
              <a:rPr lang="en-US" sz="2400" dirty="0"/>
              <a:t> numbered </a:t>
            </a:r>
            <a:r>
              <a:rPr lang="en-US" sz="2400" dirty="0">
                <a:highlight>
                  <a:srgbClr val="FFFF00"/>
                </a:highlight>
              </a:rPr>
              <a:t>2-10</a:t>
            </a:r>
            <a:r>
              <a:rPr lang="en-US" sz="2400" dirty="0"/>
              <a:t> are assigned their respective face values. </a:t>
            </a:r>
          </a:p>
          <a:p>
            <a:r>
              <a:rPr lang="en-US" sz="2400" dirty="0"/>
              <a:t>Face cards </a:t>
            </a:r>
            <a:r>
              <a:rPr lang="en-US" sz="2400" dirty="0">
                <a:highlight>
                  <a:srgbClr val="FFFF00"/>
                </a:highlight>
              </a:rPr>
              <a:t>(J, Q, K) </a:t>
            </a:r>
            <a:r>
              <a:rPr lang="en-US" sz="2400" dirty="0"/>
              <a:t>have a designated value of 10. </a:t>
            </a:r>
          </a:p>
          <a:p>
            <a:r>
              <a:rPr lang="en-US" sz="2400" b="1" dirty="0"/>
              <a:t>Aces</a:t>
            </a:r>
            <a:r>
              <a:rPr lang="en-US" sz="2400" dirty="0"/>
              <a:t> have a fixed value of 11 unless the total sum in the </a:t>
            </a:r>
            <a:r>
              <a:rPr lang="en-US" sz="2400" dirty="0">
                <a:highlight>
                  <a:srgbClr val="FFFF00"/>
                </a:highlight>
              </a:rPr>
              <a:t>hand exceeds 21</a:t>
            </a:r>
            <a:r>
              <a:rPr lang="en-US" sz="2400" dirty="0"/>
              <a:t>, in which case they are valued at 1. When an ace is used with value 11 it is denoted a usable ace. For blackjack, the card's suit is not a determining factor for their value. </a:t>
            </a:r>
          </a:p>
          <a:p>
            <a:endParaRPr lang="en-US" sz="2400" dirty="0"/>
          </a:p>
          <a:p>
            <a:r>
              <a:rPr lang="en-US" sz="2400" b="1" dirty="0"/>
              <a:t>Actions</a:t>
            </a:r>
            <a:r>
              <a:rPr lang="en-US" sz="2400" dirty="0"/>
              <a:t>: When a player  </a:t>
            </a:r>
            <a:r>
              <a:rPr lang="en-US" sz="2400" i="1" dirty="0">
                <a:highlight>
                  <a:srgbClr val="FFFF00"/>
                </a:highlight>
              </a:rPr>
              <a:t>hits</a:t>
            </a:r>
            <a:r>
              <a:rPr lang="en-US" sz="2400" dirty="0"/>
              <a:t> a card is received from the dealer. If the player chooses to  </a:t>
            </a:r>
            <a:r>
              <a:rPr lang="en-US" sz="2400" i="1" dirty="0">
                <a:highlight>
                  <a:srgbClr val="FFFF00"/>
                </a:highlight>
              </a:rPr>
              <a:t>stick</a:t>
            </a:r>
            <a:r>
              <a:rPr lang="en-US" sz="2400" dirty="0"/>
              <a:t>, the hand stops. </a:t>
            </a:r>
          </a:p>
          <a:p>
            <a:endParaRPr lang="en-US" sz="2400" dirty="0"/>
          </a:p>
          <a:p>
            <a:r>
              <a:rPr lang="en-US" sz="2400" b="1" dirty="0"/>
              <a:t>Hands</a:t>
            </a:r>
            <a:r>
              <a:rPr lang="en-US" sz="2400" dirty="0"/>
              <a:t>: A hand means one cycle of the blackjack game. In this cycle, a player can either choose </a:t>
            </a:r>
            <a:r>
              <a:rPr lang="en-US" sz="2400" b="1" i="1" dirty="0"/>
              <a:t>hit</a:t>
            </a:r>
            <a:r>
              <a:rPr lang="en-US" sz="2400" dirty="0"/>
              <a:t> or </a:t>
            </a:r>
            <a:r>
              <a:rPr lang="en-US" sz="2400" b="1" i="1" dirty="0"/>
              <a:t>stick</a:t>
            </a:r>
            <a:r>
              <a:rPr lang="en-US" sz="2400" dirty="0"/>
              <a:t>. A cycle stops if one of these conditions are satisfied: </a:t>
            </a:r>
          </a:p>
          <a:p>
            <a:pPr marL="342900" indent="-342900">
              <a:buAutoNum type="arabicPeriod"/>
            </a:pPr>
            <a:r>
              <a:rPr lang="en-US" sz="2400" dirty="0"/>
              <a:t>The player </a:t>
            </a:r>
            <a:r>
              <a:rPr lang="en-US" sz="2400" dirty="0">
                <a:highlight>
                  <a:srgbClr val="FFFF00"/>
                </a:highlight>
              </a:rPr>
              <a:t>total hand value goes over 21</a:t>
            </a:r>
            <a:r>
              <a:rPr lang="en-US" sz="2400" dirty="0"/>
              <a:t>.     </a:t>
            </a:r>
          </a:p>
          <a:p>
            <a:r>
              <a:rPr lang="en-US" sz="2400" dirty="0"/>
              <a:t>2.  The </a:t>
            </a:r>
            <a:r>
              <a:rPr lang="en-US" sz="2400" dirty="0">
                <a:highlight>
                  <a:srgbClr val="FFFF00"/>
                </a:highlight>
              </a:rPr>
              <a:t>player chooses to </a:t>
            </a:r>
            <a:r>
              <a:rPr lang="en-US" sz="2400" b="1" i="1" dirty="0">
                <a:highlight>
                  <a:srgbClr val="FFFF00"/>
                </a:highlight>
              </a:rPr>
              <a:t>stick</a:t>
            </a:r>
            <a:r>
              <a:rPr lang="en-US" sz="2400" dirty="0"/>
              <a:t>.</a:t>
            </a:r>
          </a:p>
        </p:txBody>
      </p:sp>
      <p:sp>
        <p:nvSpPr>
          <p:cNvPr id="6" name="TextBox 5">
            <a:extLst>
              <a:ext uri="{FF2B5EF4-FFF2-40B4-BE49-F238E27FC236}">
                <a16:creationId xmlns:a16="http://schemas.microsoft.com/office/drawing/2014/main" id="{DB1FCA48-44E2-7104-926A-209AA334B150}"/>
              </a:ext>
            </a:extLst>
          </p:cNvPr>
          <p:cNvSpPr txBox="1"/>
          <p:nvPr/>
        </p:nvSpPr>
        <p:spPr>
          <a:xfrm>
            <a:off x="495299" y="454646"/>
            <a:ext cx="7734301" cy="584775"/>
          </a:xfrm>
          <a:prstGeom prst="rect">
            <a:avLst/>
          </a:prstGeom>
          <a:noFill/>
        </p:spPr>
        <p:txBody>
          <a:bodyPr wrap="square">
            <a:spAutoFit/>
          </a:bodyPr>
          <a:lstStyle/>
          <a:p>
            <a:r>
              <a:rPr lang="en-GB" sz="3200" b="1" dirty="0">
                <a:effectLst>
                  <a:outerShdw blurRad="38100" dist="38100" dir="2700000" algn="tl">
                    <a:srgbClr val="000000">
                      <a:alpha val="43137"/>
                    </a:srgbClr>
                  </a:outerShdw>
                </a:effectLst>
              </a:rPr>
              <a:t>Simplified Blackjack Settings</a:t>
            </a:r>
            <a:endParaRPr lang="en-US"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69107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A1388E-798F-EC58-7BB6-DFE791D98E1B}"/>
              </a:ext>
            </a:extLst>
          </p:cNvPr>
          <p:cNvPicPr>
            <a:picLocks noChangeAspect="1"/>
          </p:cNvPicPr>
          <p:nvPr/>
        </p:nvPicPr>
        <p:blipFill>
          <a:blip r:embed="rId2"/>
          <a:srcRect t="1289"/>
          <a:stretch/>
        </p:blipFill>
        <p:spPr>
          <a:xfrm>
            <a:off x="2583821" y="4327480"/>
            <a:ext cx="6654242" cy="1754940"/>
          </a:xfrm>
          <a:prstGeom prst="rect">
            <a:avLst/>
          </a:prstGeom>
        </p:spPr>
      </p:pic>
      <p:sp>
        <p:nvSpPr>
          <p:cNvPr id="6" name="TextBox 5">
            <a:extLst>
              <a:ext uri="{FF2B5EF4-FFF2-40B4-BE49-F238E27FC236}">
                <a16:creationId xmlns:a16="http://schemas.microsoft.com/office/drawing/2014/main" id="{446B558C-61FB-E2C7-2874-FC3BF61C5466}"/>
              </a:ext>
            </a:extLst>
          </p:cNvPr>
          <p:cNvSpPr txBox="1"/>
          <p:nvPr/>
        </p:nvSpPr>
        <p:spPr>
          <a:xfrm>
            <a:off x="495299" y="454646"/>
            <a:ext cx="7734301" cy="584775"/>
          </a:xfrm>
          <a:prstGeom prst="rect">
            <a:avLst/>
          </a:prstGeom>
          <a:noFill/>
        </p:spPr>
        <p:txBody>
          <a:bodyPr wrap="square">
            <a:spAutoFit/>
          </a:bodyPr>
          <a:lstStyle/>
          <a:p>
            <a:r>
              <a:rPr lang="en-GB" sz="3200" b="1" dirty="0">
                <a:effectLst>
                  <a:outerShdw blurRad="38100" dist="38100" dir="2700000" algn="tl">
                    <a:srgbClr val="000000">
                      <a:alpha val="43137"/>
                    </a:srgbClr>
                  </a:outerShdw>
                </a:effectLst>
              </a:rPr>
              <a:t>States and Rewards</a:t>
            </a:r>
            <a:endParaRPr lang="en-US" sz="3200" dirty="0">
              <a:effectLst>
                <a:outerShdw blurRad="38100" dist="38100" dir="2700000" algn="tl">
                  <a:srgbClr val="000000">
                    <a:alpha val="43137"/>
                  </a:srgbClr>
                </a:outerShdw>
              </a:effectLst>
            </a:endParaRPr>
          </a:p>
        </p:txBody>
      </p:sp>
      <p:pic>
        <p:nvPicPr>
          <p:cNvPr id="8" name="Picture 7">
            <a:extLst>
              <a:ext uri="{FF2B5EF4-FFF2-40B4-BE49-F238E27FC236}">
                <a16:creationId xmlns:a16="http://schemas.microsoft.com/office/drawing/2014/main" id="{2C3B40B5-AAF8-D602-1DF8-CD5E714CD9C1}"/>
              </a:ext>
            </a:extLst>
          </p:cNvPr>
          <p:cNvPicPr>
            <a:picLocks noChangeAspect="1"/>
          </p:cNvPicPr>
          <p:nvPr/>
        </p:nvPicPr>
        <p:blipFill>
          <a:blip r:embed="rId3"/>
          <a:srcRect r="2857"/>
          <a:stretch/>
        </p:blipFill>
        <p:spPr>
          <a:xfrm>
            <a:off x="348343" y="1308980"/>
            <a:ext cx="11843657" cy="2120020"/>
          </a:xfrm>
          <a:prstGeom prst="rect">
            <a:avLst/>
          </a:prstGeom>
        </p:spPr>
      </p:pic>
      <p:sp>
        <p:nvSpPr>
          <p:cNvPr id="9" name="TextBox 8">
            <a:extLst>
              <a:ext uri="{FF2B5EF4-FFF2-40B4-BE49-F238E27FC236}">
                <a16:creationId xmlns:a16="http://schemas.microsoft.com/office/drawing/2014/main" id="{39FC40D2-8CD6-8400-4729-168E3C0A7473}"/>
              </a:ext>
            </a:extLst>
          </p:cNvPr>
          <p:cNvSpPr txBox="1"/>
          <p:nvPr/>
        </p:nvSpPr>
        <p:spPr>
          <a:xfrm>
            <a:off x="587829" y="3698559"/>
            <a:ext cx="6289927" cy="461665"/>
          </a:xfrm>
          <a:prstGeom prst="rect">
            <a:avLst/>
          </a:prstGeom>
          <a:noFill/>
        </p:spPr>
        <p:txBody>
          <a:bodyPr wrap="none" rtlCol="0">
            <a:spAutoFit/>
          </a:bodyPr>
          <a:lstStyle/>
          <a:p>
            <a:r>
              <a:rPr lang="en-GB" sz="2400" b="1" dirty="0"/>
              <a:t>The Goal is to find the policy that maximizes</a:t>
            </a:r>
            <a:endParaRPr lang="en-US" sz="2400" b="1" dirty="0"/>
          </a:p>
        </p:txBody>
      </p:sp>
      <p:pic>
        <p:nvPicPr>
          <p:cNvPr id="2" name="Picture 1">
            <a:extLst>
              <a:ext uri="{FF2B5EF4-FFF2-40B4-BE49-F238E27FC236}">
                <a16:creationId xmlns:a16="http://schemas.microsoft.com/office/drawing/2014/main" id="{9A6B7FA0-601A-2776-55DD-37EB01139861}"/>
              </a:ext>
            </a:extLst>
          </p:cNvPr>
          <p:cNvPicPr>
            <a:picLocks noChangeAspect="1"/>
          </p:cNvPicPr>
          <p:nvPr/>
        </p:nvPicPr>
        <p:blipFill>
          <a:blip r:embed="rId3"/>
          <a:srcRect t="62715" r="2857"/>
          <a:stretch/>
        </p:blipFill>
        <p:spPr>
          <a:xfrm>
            <a:off x="288471" y="3698558"/>
            <a:ext cx="11843657" cy="790451"/>
          </a:xfrm>
          <a:prstGeom prst="rect">
            <a:avLst/>
          </a:prstGeom>
        </p:spPr>
      </p:pic>
    </p:spTree>
    <p:extLst>
      <p:ext uri="{BB962C8B-B14F-4D97-AF65-F5344CB8AC3E}">
        <p14:creationId xmlns:p14="http://schemas.microsoft.com/office/powerpoint/2010/main" val="514464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C2FB8E-90C6-DF96-F841-7A443FB1D7EF}"/>
              </a:ext>
            </a:extLst>
          </p:cNvPr>
          <p:cNvPicPr>
            <a:picLocks noChangeAspect="1"/>
          </p:cNvPicPr>
          <p:nvPr/>
        </p:nvPicPr>
        <p:blipFill>
          <a:blip r:embed="rId2"/>
          <a:stretch>
            <a:fillRect/>
          </a:stretch>
        </p:blipFill>
        <p:spPr>
          <a:xfrm>
            <a:off x="2158488" y="1452412"/>
            <a:ext cx="5394791" cy="1068898"/>
          </a:xfrm>
          <a:prstGeom prst="rect">
            <a:avLst/>
          </a:prstGeom>
        </p:spPr>
      </p:pic>
      <p:pic>
        <p:nvPicPr>
          <p:cNvPr id="6" name="Picture 5">
            <a:extLst>
              <a:ext uri="{FF2B5EF4-FFF2-40B4-BE49-F238E27FC236}">
                <a16:creationId xmlns:a16="http://schemas.microsoft.com/office/drawing/2014/main" id="{70E6A457-2376-8EEF-C408-2ABADE124CF1}"/>
              </a:ext>
            </a:extLst>
          </p:cNvPr>
          <p:cNvPicPr>
            <a:picLocks noChangeAspect="1"/>
          </p:cNvPicPr>
          <p:nvPr/>
        </p:nvPicPr>
        <p:blipFill>
          <a:blip r:embed="rId3"/>
          <a:stretch>
            <a:fillRect/>
          </a:stretch>
        </p:blipFill>
        <p:spPr>
          <a:xfrm>
            <a:off x="563337" y="3298102"/>
            <a:ext cx="10910338" cy="1912214"/>
          </a:xfrm>
          <a:prstGeom prst="rect">
            <a:avLst/>
          </a:prstGeom>
        </p:spPr>
      </p:pic>
      <p:sp>
        <p:nvSpPr>
          <p:cNvPr id="7" name="TextBox 6">
            <a:extLst>
              <a:ext uri="{FF2B5EF4-FFF2-40B4-BE49-F238E27FC236}">
                <a16:creationId xmlns:a16="http://schemas.microsoft.com/office/drawing/2014/main" id="{653629E0-05BB-8403-D6F3-8A898C53D19A}"/>
              </a:ext>
            </a:extLst>
          </p:cNvPr>
          <p:cNvSpPr txBox="1"/>
          <p:nvPr/>
        </p:nvSpPr>
        <p:spPr>
          <a:xfrm>
            <a:off x="522514" y="435428"/>
            <a:ext cx="5495992" cy="523220"/>
          </a:xfrm>
          <a:prstGeom prst="rect">
            <a:avLst/>
          </a:prstGeom>
          <a:noFill/>
        </p:spPr>
        <p:txBody>
          <a:bodyPr wrap="none" rtlCol="0">
            <a:spAutoFit/>
          </a:bodyPr>
          <a:lstStyle/>
          <a:p>
            <a:r>
              <a:rPr lang="en-GB" sz="2800" b="1" dirty="0">
                <a:effectLst>
                  <a:outerShdw blurRad="38100" dist="38100" dir="2700000" algn="tl">
                    <a:srgbClr val="000000">
                      <a:alpha val="43137"/>
                    </a:srgbClr>
                  </a:outerShdw>
                </a:effectLst>
              </a:rPr>
              <a:t>Calculate Action-Value Function</a:t>
            </a:r>
            <a:endParaRPr lang="en-US" sz="2800" b="1" dirty="0">
              <a:effectLst>
                <a:outerShdw blurRad="38100" dist="38100" dir="2700000" algn="tl">
                  <a:srgbClr val="000000">
                    <a:alpha val="43137"/>
                  </a:srgbClr>
                </a:outerShdw>
              </a:effectLst>
            </a:endParaRPr>
          </a:p>
        </p:txBody>
      </p:sp>
      <p:sp>
        <p:nvSpPr>
          <p:cNvPr id="8" name="Arrow: Down 7">
            <a:extLst>
              <a:ext uri="{FF2B5EF4-FFF2-40B4-BE49-F238E27FC236}">
                <a16:creationId xmlns:a16="http://schemas.microsoft.com/office/drawing/2014/main" id="{B489A994-5D6B-C0C1-5CFF-2B2DE67A973C}"/>
              </a:ext>
            </a:extLst>
          </p:cNvPr>
          <p:cNvSpPr/>
          <p:nvPr/>
        </p:nvSpPr>
        <p:spPr>
          <a:xfrm>
            <a:off x="5486400" y="2623457"/>
            <a:ext cx="609600" cy="67464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2AF8A4E-E05A-F0E7-6DEF-0DBEDD051992}"/>
              </a:ext>
            </a:extLst>
          </p:cNvPr>
          <p:cNvSpPr txBox="1"/>
          <p:nvPr/>
        </p:nvSpPr>
        <p:spPr>
          <a:xfrm>
            <a:off x="8594120" y="1802195"/>
            <a:ext cx="2519088" cy="369332"/>
          </a:xfrm>
          <a:prstGeom prst="rect">
            <a:avLst/>
          </a:prstGeom>
          <a:noFill/>
        </p:spPr>
        <p:txBody>
          <a:bodyPr wrap="none" rtlCol="0">
            <a:spAutoFit/>
          </a:bodyPr>
          <a:lstStyle/>
          <a:p>
            <a:r>
              <a:rPr lang="en-GB" b="1" dirty="0"/>
              <a:t>Monte-Carlo sampling</a:t>
            </a:r>
            <a:endParaRPr lang="en-US" b="1" dirty="0"/>
          </a:p>
        </p:txBody>
      </p:sp>
      <p:sp>
        <p:nvSpPr>
          <p:cNvPr id="10" name="Arrow: Right 9">
            <a:extLst>
              <a:ext uri="{FF2B5EF4-FFF2-40B4-BE49-F238E27FC236}">
                <a16:creationId xmlns:a16="http://schemas.microsoft.com/office/drawing/2014/main" id="{995008A6-BA25-FC1E-F4B6-7128A52BAA8A}"/>
              </a:ext>
            </a:extLst>
          </p:cNvPr>
          <p:cNvSpPr/>
          <p:nvPr/>
        </p:nvSpPr>
        <p:spPr>
          <a:xfrm rot="10800000">
            <a:off x="7701643" y="1693081"/>
            <a:ext cx="751114" cy="5875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6743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381ACE-0A75-2FEB-052D-5026A105C425}"/>
              </a:ext>
            </a:extLst>
          </p:cNvPr>
          <p:cNvPicPr>
            <a:picLocks noChangeAspect="1"/>
          </p:cNvPicPr>
          <p:nvPr/>
        </p:nvPicPr>
        <p:blipFill>
          <a:blip r:embed="rId2"/>
          <a:stretch>
            <a:fillRect/>
          </a:stretch>
        </p:blipFill>
        <p:spPr>
          <a:xfrm>
            <a:off x="6315407" y="1527148"/>
            <a:ext cx="5669764" cy="4130364"/>
          </a:xfrm>
          <a:prstGeom prst="rect">
            <a:avLst/>
          </a:prstGeom>
        </p:spPr>
      </p:pic>
      <p:pic>
        <p:nvPicPr>
          <p:cNvPr id="6" name="Picture 5">
            <a:extLst>
              <a:ext uri="{FF2B5EF4-FFF2-40B4-BE49-F238E27FC236}">
                <a16:creationId xmlns:a16="http://schemas.microsoft.com/office/drawing/2014/main" id="{5244AF1C-9609-B0DD-497D-4B94CEEA4A32}"/>
              </a:ext>
            </a:extLst>
          </p:cNvPr>
          <p:cNvPicPr>
            <a:picLocks noChangeAspect="1"/>
          </p:cNvPicPr>
          <p:nvPr/>
        </p:nvPicPr>
        <p:blipFill>
          <a:blip r:embed="rId3"/>
          <a:stretch>
            <a:fillRect/>
          </a:stretch>
        </p:blipFill>
        <p:spPr>
          <a:xfrm>
            <a:off x="315688" y="2137126"/>
            <a:ext cx="5560906" cy="2583748"/>
          </a:xfrm>
          <a:prstGeom prst="rect">
            <a:avLst/>
          </a:prstGeom>
        </p:spPr>
      </p:pic>
      <p:sp>
        <p:nvSpPr>
          <p:cNvPr id="7" name="TextBox 6">
            <a:extLst>
              <a:ext uri="{FF2B5EF4-FFF2-40B4-BE49-F238E27FC236}">
                <a16:creationId xmlns:a16="http://schemas.microsoft.com/office/drawing/2014/main" id="{53A386C7-4519-52DC-72F4-5496DA5CE34F}"/>
              </a:ext>
            </a:extLst>
          </p:cNvPr>
          <p:cNvSpPr txBox="1"/>
          <p:nvPr/>
        </p:nvSpPr>
        <p:spPr>
          <a:xfrm>
            <a:off x="522514" y="435428"/>
            <a:ext cx="7020640" cy="523220"/>
          </a:xfrm>
          <a:prstGeom prst="rect">
            <a:avLst/>
          </a:prstGeom>
          <a:noFill/>
        </p:spPr>
        <p:txBody>
          <a:bodyPr wrap="none" rtlCol="0">
            <a:spAutoFit/>
          </a:bodyPr>
          <a:lstStyle/>
          <a:p>
            <a:r>
              <a:rPr lang="en-GB" sz="2800" b="1" dirty="0">
                <a:effectLst>
                  <a:outerShdw blurRad="38100" dist="38100" dir="2700000" algn="tl">
                    <a:srgbClr val="000000">
                      <a:alpha val="43137"/>
                    </a:srgbClr>
                  </a:outerShdw>
                </a:effectLst>
              </a:rPr>
              <a:t>Stochastic Policy and Policy Improvement</a:t>
            </a:r>
            <a:endParaRPr lang="en-US" sz="2800" b="1"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B3F77868-1EA2-4568-97A9-652365201272}"/>
              </a:ext>
            </a:extLst>
          </p:cNvPr>
          <p:cNvSpPr txBox="1"/>
          <p:nvPr/>
        </p:nvSpPr>
        <p:spPr>
          <a:xfrm>
            <a:off x="664028" y="1767794"/>
            <a:ext cx="6096000" cy="369332"/>
          </a:xfrm>
          <a:prstGeom prst="rect">
            <a:avLst/>
          </a:prstGeom>
          <a:noFill/>
        </p:spPr>
        <p:txBody>
          <a:bodyPr wrap="square">
            <a:spAutoFit/>
          </a:bodyPr>
          <a:lstStyle/>
          <a:p>
            <a:r>
              <a:rPr lang="en-GB" sz="1800" b="1" dirty="0">
                <a:effectLst>
                  <a:outerShdw blurRad="38100" dist="38100" dir="2700000" algn="tl">
                    <a:srgbClr val="000000">
                      <a:alpha val="43137"/>
                    </a:srgbClr>
                  </a:outerShdw>
                </a:effectLst>
              </a:rPr>
              <a:t>Stochastic Policy </a:t>
            </a:r>
            <a:r>
              <a:rPr lang="en-GB" b="1" dirty="0">
                <a:effectLst>
                  <a:outerShdw blurRad="38100" dist="38100" dir="2700000" algn="tl">
                    <a:srgbClr val="000000">
                      <a:alpha val="43137"/>
                    </a:srgbClr>
                  </a:outerShdw>
                </a:effectLst>
              </a:rPr>
              <a:t>or Epsilon-Policy</a:t>
            </a:r>
            <a:endParaRPr lang="en-US" dirty="0"/>
          </a:p>
        </p:txBody>
      </p:sp>
    </p:spTree>
    <p:extLst>
      <p:ext uri="{BB962C8B-B14F-4D97-AF65-F5344CB8AC3E}">
        <p14:creationId xmlns:p14="http://schemas.microsoft.com/office/powerpoint/2010/main" val="3559345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54A896-3A26-B017-388A-B96C214F2C66}"/>
              </a:ext>
            </a:extLst>
          </p:cNvPr>
          <p:cNvPicPr>
            <a:picLocks noChangeAspect="1"/>
          </p:cNvPicPr>
          <p:nvPr/>
        </p:nvPicPr>
        <p:blipFill>
          <a:blip r:embed="rId3"/>
          <a:stretch>
            <a:fillRect/>
          </a:stretch>
        </p:blipFill>
        <p:spPr>
          <a:xfrm>
            <a:off x="849084" y="2654285"/>
            <a:ext cx="11016343" cy="1930793"/>
          </a:xfrm>
          <a:prstGeom prst="rect">
            <a:avLst/>
          </a:prstGeom>
        </p:spPr>
      </p:pic>
      <p:pic>
        <p:nvPicPr>
          <p:cNvPr id="7" name="Picture 6">
            <a:extLst>
              <a:ext uri="{FF2B5EF4-FFF2-40B4-BE49-F238E27FC236}">
                <a16:creationId xmlns:a16="http://schemas.microsoft.com/office/drawing/2014/main" id="{DD1CD320-FF26-6509-8402-20BCA4C251BA}"/>
              </a:ext>
            </a:extLst>
          </p:cNvPr>
          <p:cNvPicPr>
            <a:picLocks noChangeAspect="1"/>
          </p:cNvPicPr>
          <p:nvPr/>
        </p:nvPicPr>
        <p:blipFill>
          <a:blip r:embed="rId4"/>
          <a:stretch>
            <a:fillRect/>
          </a:stretch>
        </p:blipFill>
        <p:spPr>
          <a:xfrm>
            <a:off x="849086" y="4651864"/>
            <a:ext cx="11016344" cy="1900000"/>
          </a:xfrm>
          <a:prstGeom prst="rect">
            <a:avLst/>
          </a:prstGeom>
        </p:spPr>
      </p:pic>
      <p:pic>
        <p:nvPicPr>
          <p:cNvPr id="8" name="Picture 7">
            <a:extLst>
              <a:ext uri="{FF2B5EF4-FFF2-40B4-BE49-F238E27FC236}">
                <a16:creationId xmlns:a16="http://schemas.microsoft.com/office/drawing/2014/main" id="{9B058D72-79F2-ACD7-2AD9-DB2DBBCD736F}"/>
              </a:ext>
            </a:extLst>
          </p:cNvPr>
          <p:cNvPicPr>
            <a:picLocks noChangeAspect="1"/>
          </p:cNvPicPr>
          <p:nvPr/>
        </p:nvPicPr>
        <p:blipFill>
          <a:blip r:embed="rId3"/>
          <a:stretch>
            <a:fillRect/>
          </a:stretch>
        </p:blipFill>
        <p:spPr>
          <a:xfrm>
            <a:off x="955089" y="652872"/>
            <a:ext cx="10910338" cy="1912214"/>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0209D52-D0A4-9522-837B-DBEBF7015C55}"/>
                  </a:ext>
                </a:extLst>
              </p:cNvPr>
              <p:cNvSpPr txBox="1"/>
              <p:nvPr/>
            </p:nvSpPr>
            <p:spPr>
              <a:xfrm>
                <a:off x="478971" y="1395148"/>
                <a:ext cx="31572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𝝅</m:t>
                          </m:r>
                        </m:e>
                        <m:sub>
                          <m:r>
                            <a:rPr lang="en-GB" b="1" i="1" smtClean="0">
                              <a:latin typeface="Cambria Math" panose="02040503050406030204" pitchFamily="18" charset="0"/>
                            </a:rPr>
                            <m:t>𝟏</m:t>
                          </m:r>
                        </m:sub>
                      </m:sSub>
                    </m:oMath>
                  </m:oMathPara>
                </a14:m>
                <a:endParaRPr lang="en-US" b="1" dirty="0"/>
              </a:p>
            </p:txBody>
          </p:sp>
        </mc:Choice>
        <mc:Fallback xmlns="">
          <p:sp>
            <p:nvSpPr>
              <p:cNvPr id="9" name="TextBox 8">
                <a:extLst>
                  <a:ext uri="{FF2B5EF4-FFF2-40B4-BE49-F238E27FC236}">
                    <a16:creationId xmlns:a16="http://schemas.microsoft.com/office/drawing/2014/main" id="{40209D52-D0A4-9522-837B-DBEBF7015C55}"/>
                  </a:ext>
                </a:extLst>
              </p:cNvPr>
              <p:cNvSpPr txBox="1">
                <a:spLocks noRot="1" noChangeAspect="1" noMove="1" noResize="1" noEditPoints="1" noAdjustHandles="1" noChangeArrowheads="1" noChangeShapeType="1" noTextEdit="1"/>
              </p:cNvSpPr>
              <p:nvPr/>
            </p:nvSpPr>
            <p:spPr>
              <a:xfrm>
                <a:off x="478971" y="1395148"/>
                <a:ext cx="315727" cy="276999"/>
              </a:xfrm>
              <a:prstGeom prst="rect">
                <a:avLst/>
              </a:prstGeom>
              <a:blipFill>
                <a:blip r:embed="rId5"/>
                <a:stretch>
                  <a:fillRect l="-11765" r="-11765"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36EBF06-EC1A-63D2-9459-E1EC7FAA55BB}"/>
                  </a:ext>
                </a:extLst>
              </p:cNvPr>
              <p:cNvSpPr txBox="1"/>
              <p:nvPr/>
            </p:nvSpPr>
            <p:spPr>
              <a:xfrm>
                <a:off x="478970" y="3342682"/>
                <a:ext cx="31572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𝝅</m:t>
                          </m:r>
                        </m:e>
                        <m:sub>
                          <m:r>
                            <a:rPr lang="en-GB" b="1" i="1" smtClean="0">
                              <a:latin typeface="Cambria Math" panose="02040503050406030204" pitchFamily="18" charset="0"/>
                            </a:rPr>
                            <m:t>𝟐</m:t>
                          </m:r>
                        </m:sub>
                      </m:sSub>
                    </m:oMath>
                  </m:oMathPara>
                </a14:m>
                <a:endParaRPr lang="en-US" b="1" dirty="0"/>
              </a:p>
            </p:txBody>
          </p:sp>
        </mc:Choice>
        <mc:Fallback xmlns="">
          <p:sp>
            <p:nvSpPr>
              <p:cNvPr id="10" name="TextBox 9">
                <a:extLst>
                  <a:ext uri="{FF2B5EF4-FFF2-40B4-BE49-F238E27FC236}">
                    <a16:creationId xmlns:a16="http://schemas.microsoft.com/office/drawing/2014/main" id="{836EBF06-EC1A-63D2-9459-E1EC7FAA55BB}"/>
                  </a:ext>
                </a:extLst>
              </p:cNvPr>
              <p:cNvSpPr txBox="1">
                <a:spLocks noRot="1" noChangeAspect="1" noMove="1" noResize="1" noEditPoints="1" noAdjustHandles="1" noChangeArrowheads="1" noChangeShapeType="1" noTextEdit="1"/>
              </p:cNvSpPr>
              <p:nvPr/>
            </p:nvSpPr>
            <p:spPr>
              <a:xfrm>
                <a:off x="478970" y="3342682"/>
                <a:ext cx="315727" cy="276999"/>
              </a:xfrm>
              <a:prstGeom prst="rect">
                <a:avLst/>
              </a:prstGeom>
              <a:blipFill>
                <a:blip r:embed="rId6"/>
                <a:stretch>
                  <a:fillRect l="-11765" r="-11765"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924DB1F-8645-772E-E2A9-B9EBFF1CFDA8}"/>
                  </a:ext>
                </a:extLst>
              </p:cNvPr>
              <p:cNvSpPr txBox="1"/>
              <p:nvPr/>
            </p:nvSpPr>
            <p:spPr>
              <a:xfrm>
                <a:off x="478969" y="5324865"/>
                <a:ext cx="2964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GB" b="1" i="1" smtClean="0">
                              <a:latin typeface="Cambria Math" panose="02040503050406030204" pitchFamily="18" charset="0"/>
                            </a:rPr>
                          </m:ctrlPr>
                        </m:sSupPr>
                        <m:e>
                          <m:r>
                            <a:rPr lang="en-GB" b="1" i="1" smtClean="0">
                              <a:latin typeface="Cambria Math" panose="02040503050406030204" pitchFamily="18" charset="0"/>
                            </a:rPr>
                            <m:t>𝝅</m:t>
                          </m:r>
                        </m:e>
                        <m:sup>
                          <m:r>
                            <a:rPr lang="en-GB" b="1" i="1" smtClean="0">
                              <a:latin typeface="Cambria Math" panose="02040503050406030204" pitchFamily="18" charset="0"/>
                            </a:rPr>
                            <m:t>∗</m:t>
                          </m:r>
                        </m:sup>
                      </m:sSup>
                    </m:oMath>
                  </m:oMathPara>
                </a14:m>
                <a:endParaRPr lang="en-US" b="1" dirty="0"/>
              </a:p>
            </p:txBody>
          </p:sp>
        </mc:Choice>
        <mc:Fallback xmlns="">
          <p:sp>
            <p:nvSpPr>
              <p:cNvPr id="11" name="TextBox 10">
                <a:extLst>
                  <a:ext uri="{FF2B5EF4-FFF2-40B4-BE49-F238E27FC236}">
                    <a16:creationId xmlns:a16="http://schemas.microsoft.com/office/drawing/2014/main" id="{4924DB1F-8645-772E-E2A9-B9EBFF1CFDA8}"/>
                  </a:ext>
                </a:extLst>
              </p:cNvPr>
              <p:cNvSpPr txBox="1">
                <a:spLocks noRot="1" noChangeAspect="1" noMove="1" noResize="1" noEditPoints="1" noAdjustHandles="1" noChangeArrowheads="1" noChangeShapeType="1" noTextEdit="1"/>
              </p:cNvSpPr>
              <p:nvPr/>
            </p:nvSpPr>
            <p:spPr>
              <a:xfrm>
                <a:off x="478969" y="5324865"/>
                <a:ext cx="296491" cy="276999"/>
              </a:xfrm>
              <a:prstGeom prst="rect">
                <a:avLst/>
              </a:prstGeom>
              <a:blipFill>
                <a:blip r:embed="rId7"/>
                <a:stretch>
                  <a:fillRect l="-12500" r="-625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5FE20E0B-6DA2-F907-5F02-0CEB759CBD45}"/>
              </a:ext>
            </a:extLst>
          </p:cNvPr>
          <p:cNvSpPr txBox="1"/>
          <p:nvPr/>
        </p:nvSpPr>
        <p:spPr>
          <a:xfrm>
            <a:off x="478969" y="315885"/>
            <a:ext cx="3574953" cy="584775"/>
          </a:xfrm>
          <a:prstGeom prst="rect">
            <a:avLst/>
          </a:prstGeom>
          <a:noFill/>
        </p:spPr>
        <p:txBody>
          <a:bodyPr wrap="none" rtlCol="0">
            <a:spAutoFit/>
          </a:bodyPr>
          <a:lstStyle/>
          <a:p>
            <a:r>
              <a:rPr lang="en-GB" sz="3200" b="1" dirty="0">
                <a:effectLst>
                  <a:outerShdw blurRad="38100" dist="38100" dir="2700000" algn="tl">
                    <a:srgbClr val="000000">
                      <a:alpha val="43137"/>
                    </a:srgbClr>
                  </a:outerShdw>
                </a:effectLst>
              </a:rPr>
              <a:t>Action-Value Pairs</a:t>
            </a:r>
            <a:endParaRPr lang="en-US" sz="3200" b="1" dirty="0">
              <a:effectLst>
                <a:outerShdw blurRad="38100" dist="38100" dir="2700000" algn="tl">
                  <a:srgbClr val="000000">
                    <a:alpha val="43137"/>
                  </a:srgbClr>
                </a:outerShdw>
              </a:effectLst>
            </a:endParaRPr>
          </a:p>
        </p:txBody>
      </p:sp>
      <p:pic>
        <p:nvPicPr>
          <p:cNvPr id="2" name="Picture 1">
            <a:extLst>
              <a:ext uri="{FF2B5EF4-FFF2-40B4-BE49-F238E27FC236}">
                <a16:creationId xmlns:a16="http://schemas.microsoft.com/office/drawing/2014/main" id="{7804E31E-3111-009B-6B84-CC7DD7239E6A}"/>
              </a:ext>
            </a:extLst>
          </p:cNvPr>
          <p:cNvPicPr>
            <a:picLocks noChangeAspect="1"/>
          </p:cNvPicPr>
          <p:nvPr/>
        </p:nvPicPr>
        <p:blipFill>
          <a:blip r:embed="rId8"/>
          <a:srcRect t="62715" r="2857"/>
          <a:stretch/>
        </p:blipFill>
        <p:spPr>
          <a:xfrm>
            <a:off x="3449766" y="2606800"/>
            <a:ext cx="7256467" cy="484300"/>
          </a:xfrm>
          <a:prstGeom prst="rect">
            <a:avLst/>
          </a:prstGeom>
        </p:spPr>
      </p:pic>
    </p:spTree>
    <p:extLst>
      <p:ext uri="{BB962C8B-B14F-4D97-AF65-F5344CB8AC3E}">
        <p14:creationId xmlns:p14="http://schemas.microsoft.com/office/powerpoint/2010/main" val="3958672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78A993-11DD-24C7-0D73-0547FCC4EFE1}"/>
              </a:ext>
            </a:extLst>
          </p:cNvPr>
          <p:cNvPicPr>
            <a:picLocks noChangeAspect="1"/>
          </p:cNvPicPr>
          <p:nvPr/>
        </p:nvPicPr>
        <p:blipFill>
          <a:blip r:embed="rId2"/>
          <a:stretch>
            <a:fillRect/>
          </a:stretch>
        </p:blipFill>
        <p:spPr>
          <a:xfrm>
            <a:off x="2146952" y="1644307"/>
            <a:ext cx="7209206" cy="2481377"/>
          </a:xfrm>
          <a:prstGeom prst="rect">
            <a:avLst/>
          </a:prstGeom>
        </p:spPr>
      </p:pic>
      <p:sp>
        <p:nvSpPr>
          <p:cNvPr id="6" name="TextBox 5">
            <a:extLst>
              <a:ext uri="{FF2B5EF4-FFF2-40B4-BE49-F238E27FC236}">
                <a16:creationId xmlns:a16="http://schemas.microsoft.com/office/drawing/2014/main" id="{2D4EFEF7-35EE-80A1-4BE6-CB0F937DD3CF}"/>
              </a:ext>
            </a:extLst>
          </p:cNvPr>
          <p:cNvSpPr txBox="1"/>
          <p:nvPr/>
        </p:nvSpPr>
        <p:spPr>
          <a:xfrm>
            <a:off x="468083" y="479171"/>
            <a:ext cx="7638822" cy="584775"/>
          </a:xfrm>
          <a:prstGeom prst="rect">
            <a:avLst/>
          </a:prstGeom>
          <a:noFill/>
        </p:spPr>
        <p:txBody>
          <a:bodyPr wrap="none" rtlCol="0">
            <a:spAutoFit/>
          </a:bodyPr>
          <a:lstStyle/>
          <a:p>
            <a:r>
              <a:rPr lang="en-GB" sz="3200" b="1" dirty="0">
                <a:effectLst>
                  <a:outerShdw blurRad="38100" dist="38100" dir="2700000" algn="tl">
                    <a:srgbClr val="000000">
                      <a:alpha val="43137"/>
                    </a:srgbClr>
                  </a:outerShdw>
                </a:effectLst>
              </a:rPr>
              <a:t>Results of Playing Games by each Policy</a:t>
            </a:r>
            <a:endParaRPr lang="en-US" sz="3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04144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33AF8D-1DAA-A9CF-A59F-81E6F2B79721}"/>
              </a:ext>
            </a:extLst>
          </p:cNvPr>
          <p:cNvPicPr>
            <a:picLocks noChangeAspect="1"/>
          </p:cNvPicPr>
          <p:nvPr/>
        </p:nvPicPr>
        <p:blipFill>
          <a:blip r:embed="rId2"/>
          <a:stretch>
            <a:fillRect/>
          </a:stretch>
        </p:blipFill>
        <p:spPr>
          <a:xfrm>
            <a:off x="170203" y="3874581"/>
            <a:ext cx="3655429" cy="2504248"/>
          </a:xfrm>
          <a:prstGeom prst="rect">
            <a:avLst/>
          </a:prstGeom>
        </p:spPr>
      </p:pic>
      <p:sp>
        <p:nvSpPr>
          <p:cNvPr id="6" name="TextBox 5">
            <a:extLst>
              <a:ext uri="{FF2B5EF4-FFF2-40B4-BE49-F238E27FC236}">
                <a16:creationId xmlns:a16="http://schemas.microsoft.com/office/drawing/2014/main" id="{95B00D44-93EA-7C10-8634-9DC6B1A21D4B}"/>
              </a:ext>
            </a:extLst>
          </p:cNvPr>
          <p:cNvSpPr txBox="1"/>
          <p:nvPr/>
        </p:nvSpPr>
        <p:spPr>
          <a:xfrm>
            <a:off x="468083" y="479171"/>
            <a:ext cx="5880905" cy="584775"/>
          </a:xfrm>
          <a:prstGeom prst="rect">
            <a:avLst/>
          </a:prstGeom>
          <a:noFill/>
        </p:spPr>
        <p:txBody>
          <a:bodyPr wrap="none" rtlCol="0">
            <a:spAutoFit/>
          </a:bodyPr>
          <a:lstStyle/>
          <a:p>
            <a:r>
              <a:rPr lang="en-GB" sz="3200" b="1" dirty="0">
                <a:effectLst>
                  <a:outerShdw blurRad="38100" dist="38100" dir="2700000" algn="tl">
                    <a:srgbClr val="000000">
                      <a:alpha val="43137"/>
                    </a:srgbClr>
                  </a:outerShdw>
                </a:effectLst>
              </a:rPr>
              <a:t>Advanced Model Free Learning</a:t>
            </a:r>
            <a:endParaRPr lang="en-US" sz="3200" b="1" dirty="0">
              <a:effectLst>
                <a:outerShdw blurRad="38100" dist="38100" dir="2700000" algn="tl">
                  <a:srgbClr val="000000">
                    <a:alpha val="43137"/>
                  </a:srgbClr>
                </a:outerShdw>
              </a:effectLst>
            </a:endParaRPr>
          </a:p>
        </p:txBody>
      </p:sp>
      <p:pic>
        <p:nvPicPr>
          <p:cNvPr id="8" name="Picture 7">
            <a:extLst>
              <a:ext uri="{FF2B5EF4-FFF2-40B4-BE49-F238E27FC236}">
                <a16:creationId xmlns:a16="http://schemas.microsoft.com/office/drawing/2014/main" id="{9D36F7E3-C4DD-C30B-9402-BE7A0EFB2C0F}"/>
              </a:ext>
            </a:extLst>
          </p:cNvPr>
          <p:cNvPicPr>
            <a:picLocks noChangeAspect="1"/>
          </p:cNvPicPr>
          <p:nvPr/>
        </p:nvPicPr>
        <p:blipFill>
          <a:blip r:embed="rId3"/>
          <a:stretch>
            <a:fillRect/>
          </a:stretch>
        </p:blipFill>
        <p:spPr>
          <a:xfrm>
            <a:off x="4078318" y="3874582"/>
            <a:ext cx="3789971" cy="2504248"/>
          </a:xfrm>
          <a:prstGeom prst="rect">
            <a:avLst/>
          </a:prstGeom>
        </p:spPr>
      </p:pic>
      <p:pic>
        <p:nvPicPr>
          <p:cNvPr id="10" name="Picture 9">
            <a:extLst>
              <a:ext uri="{FF2B5EF4-FFF2-40B4-BE49-F238E27FC236}">
                <a16:creationId xmlns:a16="http://schemas.microsoft.com/office/drawing/2014/main" id="{A5C639C3-CD62-65DA-F8EA-75D3635234DC}"/>
              </a:ext>
            </a:extLst>
          </p:cNvPr>
          <p:cNvPicPr>
            <a:picLocks noChangeAspect="1"/>
          </p:cNvPicPr>
          <p:nvPr/>
        </p:nvPicPr>
        <p:blipFill>
          <a:blip r:embed="rId4"/>
          <a:stretch>
            <a:fillRect/>
          </a:stretch>
        </p:blipFill>
        <p:spPr>
          <a:xfrm>
            <a:off x="8120975" y="3874581"/>
            <a:ext cx="3773583" cy="2504248"/>
          </a:xfrm>
          <a:prstGeom prst="rect">
            <a:avLst/>
          </a:prstGeom>
        </p:spPr>
      </p:pic>
      <p:pic>
        <p:nvPicPr>
          <p:cNvPr id="12" name="Picture 11">
            <a:extLst>
              <a:ext uri="{FF2B5EF4-FFF2-40B4-BE49-F238E27FC236}">
                <a16:creationId xmlns:a16="http://schemas.microsoft.com/office/drawing/2014/main" id="{DD4508DE-402B-FBD7-A3E8-122D326EC0C0}"/>
              </a:ext>
            </a:extLst>
          </p:cNvPr>
          <p:cNvPicPr>
            <a:picLocks noChangeAspect="1"/>
          </p:cNvPicPr>
          <p:nvPr/>
        </p:nvPicPr>
        <p:blipFill>
          <a:blip r:embed="rId5"/>
          <a:stretch>
            <a:fillRect/>
          </a:stretch>
        </p:blipFill>
        <p:spPr>
          <a:xfrm>
            <a:off x="3572946" y="1441075"/>
            <a:ext cx="4295343" cy="2219862"/>
          </a:xfrm>
          <a:prstGeom prst="rect">
            <a:avLst/>
          </a:prstGeom>
        </p:spPr>
      </p:pic>
    </p:spTree>
    <p:extLst>
      <p:ext uri="{BB962C8B-B14F-4D97-AF65-F5344CB8AC3E}">
        <p14:creationId xmlns:p14="http://schemas.microsoft.com/office/powerpoint/2010/main" val="954229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D9CC1D-6A4F-D13D-3A70-3F63A1C07352}"/>
              </a:ext>
            </a:extLst>
          </p:cNvPr>
          <p:cNvPicPr>
            <a:picLocks noChangeAspect="1"/>
          </p:cNvPicPr>
          <p:nvPr/>
        </p:nvPicPr>
        <p:blipFill>
          <a:blip r:embed="rId2"/>
          <a:stretch>
            <a:fillRect/>
          </a:stretch>
        </p:blipFill>
        <p:spPr>
          <a:xfrm>
            <a:off x="881960" y="1083436"/>
            <a:ext cx="6639852" cy="5344271"/>
          </a:xfrm>
          <a:prstGeom prst="rect">
            <a:avLst/>
          </a:prstGeom>
        </p:spPr>
      </p:pic>
      <p:sp>
        <p:nvSpPr>
          <p:cNvPr id="6" name="TextBox 5">
            <a:extLst>
              <a:ext uri="{FF2B5EF4-FFF2-40B4-BE49-F238E27FC236}">
                <a16:creationId xmlns:a16="http://schemas.microsoft.com/office/drawing/2014/main" id="{DD82DAB5-C124-AAB1-5455-8930D7016DB6}"/>
              </a:ext>
            </a:extLst>
          </p:cNvPr>
          <p:cNvSpPr txBox="1"/>
          <p:nvPr/>
        </p:nvSpPr>
        <p:spPr>
          <a:xfrm>
            <a:off x="457199" y="295199"/>
            <a:ext cx="5784019" cy="461665"/>
          </a:xfrm>
          <a:prstGeom prst="rect">
            <a:avLst/>
          </a:prstGeom>
          <a:noFill/>
        </p:spPr>
        <p:txBody>
          <a:bodyPr wrap="none" rtlCol="0">
            <a:spAutoFit/>
          </a:bodyPr>
          <a:lstStyle/>
          <a:p>
            <a:r>
              <a:rPr lang="en-GB" sz="2400" b="1" dirty="0">
                <a:effectLst>
                  <a:outerShdw blurRad="38100" dist="38100" dir="2700000" algn="tl">
                    <a:srgbClr val="000000">
                      <a:alpha val="43137"/>
                    </a:srgbClr>
                  </a:outerShdw>
                </a:effectLst>
              </a:rPr>
              <a:t>Complex Updating Reward/Policy Rules </a:t>
            </a:r>
            <a:endParaRPr lang="en-US" sz="2400" b="1"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800EE427-81BA-172C-2D44-CE4FA2FA7CFB}"/>
              </a:ext>
            </a:extLst>
          </p:cNvPr>
          <p:cNvSpPr txBox="1"/>
          <p:nvPr/>
        </p:nvSpPr>
        <p:spPr>
          <a:xfrm>
            <a:off x="8077200" y="3355461"/>
            <a:ext cx="3526991" cy="400110"/>
          </a:xfrm>
          <a:prstGeom prst="rect">
            <a:avLst/>
          </a:prstGeom>
          <a:noFill/>
        </p:spPr>
        <p:txBody>
          <a:bodyPr wrap="none" rtlCol="0">
            <a:spAutoFit/>
          </a:bodyPr>
          <a:lstStyle/>
          <a:p>
            <a:r>
              <a:rPr lang="en-GB" sz="2000" dirty="0"/>
              <a:t>Policy Gradient in Atari Games</a:t>
            </a:r>
            <a:endParaRPr lang="en-US" sz="2000" dirty="0"/>
          </a:p>
        </p:txBody>
      </p:sp>
    </p:spTree>
    <p:extLst>
      <p:ext uri="{BB962C8B-B14F-4D97-AF65-F5344CB8AC3E}">
        <p14:creationId xmlns:p14="http://schemas.microsoft.com/office/powerpoint/2010/main" val="2317076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8894F-6689-AAF5-8170-31A285FAA2E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ABE1C12-1BE1-2DB5-6E0C-0BBC86595B3D}"/>
              </a:ext>
            </a:extLst>
          </p:cNvPr>
          <p:cNvSpPr txBox="1"/>
          <p:nvPr/>
        </p:nvSpPr>
        <p:spPr>
          <a:xfrm>
            <a:off x="2281081" y="3434630"/>
            <a:ext cx="8327923" cy="369332"/>
          </a:xfrm>
          <a:prstGeom prst="rect">
            <a:avLst/>
          </a:prstGeom>
          <a:noFill/>
        </p:spPr>
        <p:txBody>
          <a:bodyPr wrap="square">
            <a:spAutoFit/>
          </a:bodyPr>
          <a:lstStyle/>
          <a:p>
            <a:r>
              <a:rPr lang="en-GB" dirty="0">
                <a:hlinkClick r:id="rId2"/>
              </a:rPr>
              <a:t>Optimization and Linear Programming | by Anubhav Deep | </a:t>
            </a:r>
            <a:r>
              <a:rPr lang="en-GB" dirty="0" err="1">
                <a:hlinkClick r:id="rId2"/>
              </a:rPr>
              <a:t>CodeX</a:t>
            </a:r>
            <a:r>
              <a:rPr lang="en-GB" dirty="0">
                <a:hlinkClick r:id="rId2"/>
              </a:rPr>
              <a:t> | Medium</a:t>
            </a:r>
            <a:endParaRPr lang="en-US" dirty="0"/>
          </a:p>
        </p:txBody>
      </p:sp>
      <p:sp>
        <p:nvSpPr>
          <p:cNvPr id="7" name="TextBox 6">
            <a:extLst>
              <a:ext uri="{FF2B5EF4-FFF2-40B4-BE49-F238E27FC236}">
                <a16:creationId xmlns:a16="http://schemas.microsoft.com/office/drawing/2014/main" id="{34FC65A4-0652-C36F-C418-91B1C9D029C4}"/>
              </a:ext>
            </a:extLst>
          </p:cNvPr>
          <p:cNvSpPr txBox="1"/>
          <p:nvPr/>
        </p:nvSpPr>
        <p:spPr>
          <a:xfrm>
            <a:off x="1779636" y="2721114"/>
            <a:ext cx="9114504" cy="707886"/>
          </a:xfrm>
          <a:prstGeom prst="rect">
            <a:avLst/>
          </a:prstGeom>
          <a:noFill/>
        </p:spPr>
        <p:txBody>
          <a:bodyPr wrap="square">
            <a:spAutoFit/>
          </a:bodyPr>
          <a:lstStyle/>
          <a:p>
            <a:r>
              <a:rPr lang="en-GB" sz="4000" b="1" dirty="0"/>
              <a:t>Linear Programming in Data Science</a:t>
            </a:r>
            <a:endParaRPr lang="en-US" sz="4000" b="1" dirty="0"/>
          </a:p>
        </p:txBody>
      </p:sp>
    </p:spTree>
    <p:extLst>
      <p:ext uri="{BB962C8B-B14F-4D97-AF65-F5344CB8AC3E}">
        <p14:creationId xmlns:p14="http://schemas.microsoft.com/office/powerpoint/2010/main" val="2631910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889B6E-F0EE-D121-C5AE-4C9496B3548D}"/>
              </a:ext>
            </a:extLst>
          </p:cNvPr>
          <p:cNvSpPr txBox="1"/>
          <p:nvPr/>
        </p:nvSpPr>
        <p:spPr>
          <a:xfrm>
            <a:off x="619431" y="401878"/>
            <a:ext cx="6351640" cy="584775"/>
          </a:xfrm>
          <a:prstGeom prst="rect">
            <a:avLst/>
          </a:prstGeom>
          <a:noFill/>
        </p:spPr>
        <p:txBody>
          <a:bodyPr wrap="square">
            <a:spAutoFit/>
          </a:bodyPr>
          <a:lstStyle/>
          <a:p>
            <a:r>
              <a:rPr lang="en-GB" sz="3200" b="1" dirty="0"/>
              <a:t>Common Words in Optimization</a:t>
            </a:r>
            <a:endParaRPr lang="en-US" sz="3200" b="1" dirty="0"/>
          </a:p>
        </p:txBody>
      </p:sp>
      <p:sp>
        <p:nvSpPr>
          <p:cNvPr id="9" name="TextBox 8">
            <a:extLst>
              <a:ext uri="{FF2B5EF4-FFF2-40B4-BE49-F238E27FC236}">
                <a16:creationId xmlns:a16="http://schemas.microsoft.com/office/drawing/2014/main" id="{12F86723-FDC5-3630-08EA-D10085084180}"/>
              </a:ext>
            </a:extLst>
          </p:cNvPr>
          <p:cNvSpPr txBox="1"/>
          <p:nvPr/>
        </p:nvSpPr>
        <p:spPr>
          <a:xfrm>
            <a:off x="639097" y="1307527"/>
            <a:ext cx="6096000" cy="1015663"/>
          </a:xfrm>
          <a:prstGeom prst="rect">
            <a:avLst/>
          </a:prstGeom>
          <a:noFill/>
        </p:spPr>
        <p:txBody>
          <a:bodyPr wrap="square">
            <a:spAutoFit/>
          </a:bodyPr>
          <a:lstStyle/>
          <a:p>
            <a:pPr marL="285750" indent="-285750">
              <a:buFont typeface="Arial" panose="020B0604020202020204" pitchFamily="34" charset="0"/>
              <a:buChar char="•"/>
            </a:pPr>
            <a:r>
              <a:rPr lang="en-GB" sz="2000" b="1" dirty="0"/>
              <a:t>Decision variables </a:t>
            </a:r>
            <a:r>
              <a:rPr lang="en-GB" sz="2000" dirty="0"/>
              <a:t>represent the quantities that can be controlled or adjusted to solve an optimization problem.</a:t>
            </a:r>
          </a:p>
        </p:txBody>
      </p:sp>
      <p:sp>
        <p:nvSpPr>
          <p:cNvPr id="12" name="TextBox 11">
            <a:extLst>
              <a:ext uri="{FF2B5EF4-FFF2-40B4-BE49-F238E27FC236}">
                <a16:creationId xmlns:a16="http://schemas.microsoft.com/office/drawing/2014/main" id="{75243BAA-6571-CD95-6603-FAED819F311F}"/>
              </a:ext>
            </a:extLst>
          </p:cNvPr>
          <p:cNvSpPr txBox="1"/>
          <p:nvPr/>
        </p:nvSpPr>
        <p:spPr>
          <a:xfrm>
            <a:off x="639097" y="2434153"/>
            <a:ext cx="6096000" cy="1323439"/>
          </a:xfrm>
          <a:prstGeom prst="rect">
            <a:avLst/>
          </a:prstGeom>
          <a:noFill/>
        </p:spPr>
        <p:txBody>
          <a:bodyPr wrap="square">
            <a:spAutoFit/>
          </a:bodyPr>
          <a:lstStyle/>
          <a:p>
            <a:pPr marL="285750" indent="-285750">
              <a:buFont typeface="Arial" panose="020B0604020202020204" pitchFamily="34" charset="0"/>
              <a:buChar char="•"/>
            </a:pPr>
            <a:r>
              <a:rPr lang="en-GB" sz="2000" b="1" dirty="0"/>
              <a:t>Constraints</a:t>
            </a:r>
            <a:r>
              <a:rPr lang="en-GB" sz="2000" dirty="0"/>
              <a:t> are the restrictions or limitations that the decision variables must satisfy in an optimization problem.</a:t>
            </a:r>
          </a:p>
          <a:p>
            <a:pPr marL="285750" indent="-285750">
              <a:buFont typeface="Arial" panose="020B0604020202020204" pitchFamily="34" charset="0"/>
              <a:buChar char="•"/>
            </a:pPr>
            <a:endParaRPr lang="en-GB" sz="2000" dirty="0"/>
          </a:p>
        </p:txBody>
      </p:sp>
      <p:sp>
        <p:nvSpPr>
          <p:cNvPr id="14" name="TextBox 13">
            <a:extLst>
              <a:ext uri="{FF2B5EF4-FFF2-40B4-BE49-F238E27FC236}">
                <a16:creationId xmlns:a16="http://schemas.microsoft.com/office/drawing/2014/main" id="{A8A9DDC4-6351-0D24-D904-6ED67AFC9A53}"/>
              </a:ext>
            </a:extLst>
          </p:cNvPr>
          <p:cNvSpPr txBox="1"/>
          <p:nvPr/>
        </p:nvSpPr>
        <p:spPr>
          <a:xfrm>
            <a:off x="619431" y="4330011"/>
            <a:ext cx="6096000" cy="707886"/>
          </a:xfrm>
          <a:prstGeom prst="rect">
            <a:avLst/>
          </a:prstGeom>
          <a:noFill/>
        </p:spPr>
        <p:txBody>
          <a:bodyPr wrap="square">
            <a:spAutoFit/>
          </a:bodyPr>
          <a:lstStyle/>
          <a:p>
            <a:pPr marL="285750" indent="-285750">
              <a:buFont typeface="Arial" panose="020B0604020202020204" pitchFamily="34" charset="0"/>
              <a:buChar char="•"/>
            </a:pPr>
            <a:r>
              <a:rPr lang="en-GB" sz="2000" b="1" dirty="0"/>
              <a:t>Objective function</a:t>
            </a:r>
            <a:r>
              <a:rPr lang="en-GB" sz="2000" dirty="0"/>
              <a:t> is the mathematical expression that defines the goal of the optimization problem. </a:t>
            </a:r>
            <a:endParaRPr lang="en-US" sz="2000" dirty="0"/>
          </a:p>
        </p:txBody>
      </p:sp>
      <p:sp>
        <p:nvSpPr>
          <p:cNvPr id="16" name="TextBox 15">
            <a:extLst>
              <a:ext uri="{FF2B5EF4-FFF2-40B4-BE49-F238E27FC236}">
                <a16:creationId xmlns:a16="http://schemas.microsoft.com/office/drawing/2014/main" id="{E6FBDD40-3ACF-E82C-C814-49768FD0D088}"/>
              </a:ext>
            </a:extLst>
          </p:cNvPr>
          <p:cNvSpPr txBox="1"/>
          <p:nvPr/>
        </p:nvSpPr>
        <p:spPr>
          <a:xfrm>
            <a:off x="1278194" y="5040037"/>
            <a:ext cx="6754761" cy="707886"/>
          </a:xfrm>
          <a:prstGeom prst="rect">
            <a:avLst/>
          </a:prstGeom>
          <a:noFill/>
        </p:spPr>
        <p:txBody>
          <a:bodyPr wrap="square">
            <a:spAutoFit/>
          </a:bodyPr>
          <a:lstStyle/>
          <a:p>
            <a:pPr marL="285750" indent="-285750">
              <a:buFont typeface="Arial" panose="020B0604020202020204" pitchFamily="34" charset="0"/>
              <a:buChar char="•"/>
            </a:pPr>
            <a:r>
              <a:rPr lang="en-GB" sz="2000" b="1" dirty="0"/>
              <a:t>Maximize</a:t>
            </a:r>
            <a:r>
              <a:rPr lang="en-GB" sz="2000" dirty="0"/>
              <a:t> (e.g., maximize profit, revenue, efficiency)</a:t>
            </a:r>
          </a:p>
          <a:p>
            <a:pPr marL="285750" indent="-285750">
              <a:buFont typeface="Arial" panose="020B0604020202020204" pitchFamily="34" charset="0"/>
              <a:buChar char="•"/>
            </a:pPr>
            <a:r>
              <a:rPr lang="en-GB" sz="2000" b="1" dirty="0"/>
              <a:t>Minimize</a:t>
            </a:r>
            <a:r>
              <a:rPr lang="en-GB" sz="2000" dirty="0"/>
              <a:t> (e.g., minimize cost, time, waste)</a:t>
            </a:r>
          </a:p>
        </p:txBody>
      </p:sp>
      <p:sp>
        <p:nvSpPr>
          <p:cNvPr id="17" name="TextBox 16">
            <a:extLst>
              <a:ext uri="{FF2B5EF4-FFF2-40B4-BE49-F238E27FC236}">
                <a16:creationId xmlns:a16="http://schemas.microsoft.com/office/drawing/2014/main" id="{AB3EC991-6978-E05A-DBFC-105108506135}"/>
              </a:ext>
            </a:extLst>
          </p:cNvPr>
          <p:cNvSpPr txBox="1"/>
          <p:nvPr/>
        </p:nvSpPr>
        <p:spPr>
          <a:xfrm>
            <a:off x="639096" y="3532275"/>
            <a:ext cx="7108725" cy="1015663"/>
          </a:xfrm>
          <a:prstGeom prst="rect">
            <a:avLst/>
          </a:prstGeom>
          <a:noFill/>
        </p:spPr>
        <p:txBody>
          <a:bodyPr wrap="square">
            <a:spAutoFit/>
          </a:bodyPr>
          <a:lstStyle/>
          <a:p>
            <a:pPr marL="285750" indent="-285750">
              <a:buFont typeface="Arial" panose="020B0604020202020204" pitchFamily="34" charset="0"/>
              <a:buChar char="•"/>
            </a:pPr>
            <a:r>
              <a:rPr lang="en-GB" sz="2000" b="1" dirty="0"/>
              <a:t>Feasible Solutions </a:t>
            </a:r>
            <a:r>
              <a:rPr lang="en-GB" sz="2000" dirty="0"/>
              <a:t>are</a:t>
            </a:r>
            <a:r>
              <a:rPr lang="en-GB" sz="2000" b="1" dirty="0"/>
              <a:t> </a:t>
            </a:r>
            <a:r>
              <a:rPr lang="en-GB" sz="2000" dirty="0"/>
              <a:t>region on a graph where all the constraints of optimization problem are satisfied.</a:t>
            </a:r>
          </a:p>
          <a:p>
            <a:pPr marL="285750" indent="-285750">
              <a:buFont typeface="Arial" panose="020B0604020202020204" pitchFamily="34" charset="0"/>
              <a:buChar char="•"/>
            </a:pPr>
            <a:endParaRPr lang="en-US" sz="2000" dirty="0"/>
          </a:p>
        </p:txBody>
      </p:sp>
    </p:spTree>
    <p:extLst>
      <p:ext uri="{BB962C8B-B14F-4D97-AF65-F5344CB8AC3E}">
        <p14:creationId xmlns:p14="http://schemas.microsoft.com/office/powerpoint/2010/main" val="2483767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B85CE6-72DD-128E-EBB9-C62434E8BA58}"/>
              </a:ext>
            </a:extLst>
          </p:cNvPr>
          <p:cNvPicPr>
            <a:picLocks noChangeAspect="1"/>
          </p:cNvPicPr>
          <p:nvPr/>
        </p:nvPicPr>
        <p:blipFill>
          <a:blip r:embed="rId2"/>
          <a:stretch>
            <a:fillRect/>
          </a:stretch>
        </p:blipFill>
        <p:spPr>
          <a:xfrm>
            <a:off x="245806" y="663677"/>
            <a:ext cx="11700387" cy="5530645"/>
          </a:xfrm>
          <a:prstGeom prst="rect">
            <a:avLst/>
          </a:prstGeom>
        </p:spPr>
      </p:pic>
    </p:spTree>
    <p:extLst>
      <p:ext uri="{BB962C8B-B14F-4D97-AF65-F5344CB8AC3E}">
        <p14:creationId xmlns:p14="http://schemas.microsoft.com/office/powerpoint/2010/main" val="2166283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E0867F2-0D62-822D-5439-F18C9DCABC53}"/>
              </a:ext>
            </a:extLst>
          </p:cNvPr>
          <p:cNvPicPr>
            <a:picLocks noChangeAspect="1"/>
          </p:cNvPicPr>
          <p:nvPr/>
        </p:nvPicPr>
        <p:blipFill>
          <a:blip r:embed="rId2"/>
          <a:stretch>
            <a:fillRect/>
          </a:stretch>
        </p:blipFill>
        <p:spPr>
          <a:xfrm>
            <a:off x="309716" y="481585"/>
            <a:ext cx="11572568" cy="5894829"/>
          </a:xfrm>
          <a:prstGeom prst="rect">
            <a:avLst/>
          </a:prstGeom>
        </p:spPr>
      </p:pic>
    </p:spTree>
    <p:extLst>
      <p:ext uri="{BB962C8B-B14F-4D97-AF65-F5344CB8AC3E}">
        <p14:creationId xmlns:p14="http://schemas.microsoft.com/office/powerpoint/2010/main" val="3367424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9199</TotalTime>
  <Words>907</Words>
  <Application>Microsoft Office PowerPoint</Application>
  <PresentationFormat>Widescreen</PresentationFormat>
  <Paragraphs>88</Paragraphs>
  <Slides>26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Pitiwat Lueangwitchajaroen</dc:creator>
  <cp:lastModifiedBy>Pitiwat Lueangwitchajaroen</cp:lastModifiedBy>
  <cp:revision>12</cp:revision>
  <dcterms:created xsi:type="dcterms:W3CDTF">2024-12-04T03:59:07Z</dcterms:created>
  <dcterms:modified xsi:type="dcterms:W3CDTF">2025-01-18T09:57:38Z</dcterms:modified>
</cp:coreProperties>
</file>